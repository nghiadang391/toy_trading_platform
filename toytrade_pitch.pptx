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rels" ContentType="application/vnd.openxmlformats-package.relationships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Slides/notesSlide1.xml" ContentType="application/vnd.openxmlformats-officedocument.presentationml.notesSlid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55fffc0f678f4274" /><Relationship Type="http://schemas.openxmlformats.org/package/2006/relationships/metadata/core-properties" Target="/docProps/core.xml" Id="R712d6f1e80f84bec" /><Relationship Type="http://schemas.openxmlformats.org/officeDocument/2006/relationships/extended-properties" Target="/docProps/app.xml" Id="R51e750c7087b4080" /><Relationship Type="http://schemas.openxmlformats.org/officeDocument/2006/relationships/custom-properties" Target="/docProps/custom.xml" Id="R56d552870b4b44ae" /></Relationships>
</file>

<file path=ppt/presentation.xml><?xml version="1.0" encoding="utf-8"?>
<p:presentation xmlns:r="http://schemas.openxmlformats.org/officeDocument/2006/relationships" xmlns:p="http://schemas.openxmlformats.org/presentationml/2006/main">
  <p:sldMasterIdLst>
    <p:sldMasterId xmlns:r="http://schemas.openxmlformats.org/officeDocument/2006/relationships" id="2147483648" r:id="rId1"/>
  </p:sldMasterIdLst>
  <p:notesMasterIdLst>
    <p:notesMasterId r:id="R40169b48c31b4aea"/>
  </p:notesMasterIdLst>
  <p:sldIdLst>
    <p:sldId id="256" r:id="R47aee234effe4ad5"/>
    <p:sldId id="257" r:id="Rb29dad6a3fab4d3c"/>
    <p:sldId id="258" r:id="R2c9503aac3f74295"/>
    <p:sldId id="259" r:id="R678311e0561b41b2"/>
    <p:sldId id="260" r:id="R11697261741144e9"/>
    <p:sldId id="261" r:id="Rc0713e1c64644aa8"/>
  </p:sldIdLst>
  <p:sldSz cx="12192000" cy="6858000"/>
  <p:notesSz cx="6858000" cy="9144000"/>
</p:presentation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Relationship Type="http://schemas.openxmlformats.org/officeDocument/2006/relationships/theme" Target="/ppt/theme/theme1.xml" Id="rId2" /><Relationship Type="http://schemas.openxmlformats.org/officeDocument/2006/relationships/slide" Target="/ppt/slides/slide1.xml" Id="R47aee234effe4ad5" /><Relationship Type="http://schemas.openxmlformats.org/officeDocument/2006/relationships/slide" Target="/ppt/slides/slide2.xml" Id="Rb29dad6a3fab4d3c" /><Relationship Type="http://schemas.openxmlformats.org/officeDocument/2006/relationships/slide" Target="/ppt/slides/slide3.xml" Id="R2c9503aac3f74295" /><Relationship Type="http://schemas.openxmlformats.org/officeDocument/2006/relationships/slide" Target="/ppt/slides/slide4.xml" Id="R678311e0561b41b2" /><Relationship Type="http://schemas.openxmlformats.org/officeDocument/2006/relationships/slide" Target="/ppt/slides/slide5.xml" Id="R11697261741144e9" /><Relationship Type="http://schemas.openxmlformats.org/officeDocument/2006/relationships/slide" Target="/ppt/slides/slide6.xml" Id="Rc0713e1c64644aa8" /><Relationship Type="http://schemas.openxmlformats.org/officeDocument/2006/relationships/notesMaster" Target="/ppt/notesMasters/notesMaster1.xml" Id="R40169b48c31b4ae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5573afb2a4844628" 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>
              <a:defRPr sz="1200"/>
            </a:lvl1pPr>
          </a:lstStyle>
          <a:p>
            <a:fld id="{B1E4B0A2-5C8E-4E5F-9C1D-2F3A4B5C6D71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25717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3429000"/>
            <a:ext cx="5486400" cy="4114800"/>
          </a:xfrm>
          <a:prstGeom prst="rect">
            <a:avLst/>
          </a:prstGeom>
        </p:spPr>
        <p:txBody>
          <a:bodyPr vert="horz" lIns="91440" tIns="45720" rIns="91440" bIns="4572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>
              <a:defRPr sz="1200"/>
            </a:lvl1pPr>
          </a:lstStyle>
          <a:p>
            <a:fld id="{B1E4B0A2-5C8E-4E5F-9C1D-2F3A4B5C6D72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>
          <a:solidFill>
            <a:schemeClr val="phClr"/>
          </a:solidFill>
        </a:ln>
        <a:ln w="12700" cap="flat">
          <a:solidFill>
            <a:schemeClr val="phClr"/>
          </a:solidFill>
        </a:ln>
        <a:ln w="19050" cap="flat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21ac1755563e4fdb" /><Relationship Type="http://schemas.openxmlformats.org/officeDocument/2006/relationships/slide" Target="/ppt/slides/slide1.xml" Id="Rde6baadf00474af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87eb9871499f47a4" /><Relationship Type="http://schemas.openxmlformats.org/officeDocument/2006/relationships/slide" Target="/ppt/slides/slide2.xml" Id="R35e5f947f9a0416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794d8f3865f34a7b" /><Relationship Type="http://schemas.openxmlformats.org/officeDocument/2006/relationships/slide" Target="/ppt/slides/slide3.xml" Id="Rb2ab1d9a65d44f2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20ed523a8dfd47d0" /><Relationship Type="http://schemas.openxmlformats.org/officeDocument/2006/relationships/slide" Target="/ppt/slides/slide4.xml" Id="Rbc171cdf643d401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0263b6179ada4bad" /><Relationship Type="http://schemas.openxmlformats.org/officeDocument/2006/relationships/slide" Target="/ppt/slides/slide5.xml" Id="R84543de52b7f422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45d33155f8514d8f" /><Relationship Type="http://schemas.openxmlformats.org/officeDocument/2006/relationships/slide" Target="/ppt/slides/slide6.xml" Id="R54ca0dc53669480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Introduce ToyTrade as the blockchain solution to kids' toy waste. Highlight that it is a direct trade ecosystem settled securely on CKB.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Explain the core friction: kids outgrow toys but parents face high costs and lack local trust. Show how CKB solves this with lock scripts, DOBs, and JoyID.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Detail the 3-price display system: seller's choice, automated visual Google Lens matches to protect against overpricing, and live CKB conversion.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Walk through the step-by-step transaction lifecycle: lock, deliver, confirm release, and the final timeout safety refund safeguard.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Explain the MVP's technical limitations and security parameters that are documented in the README. Highlight transaction hijacking, unauthenticated confirmations, and off-chain price oracle fixes.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Outline our evolutionary roadmap from core v1 CKB escrow to instant Fiber payments and cross-chain Bitcoin support.</a:t>
            </a:r>
          </a:p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16053550f9b43ee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b1b6a77a9ef408c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d1de547c866477c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778e2c48f0e41f4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9e554c7fbfd4262" /></Relationships>
</file>

<file path=ppt/slideLayouts/slideLayout1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/>
    </p:spTree>
  </p:cSld>
</p:sldLayout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ctrTitle"/>
          </p:nvPr>
        </p:nvSpPr>
        <p:spPr>
          <a:xfrm xmlns:a="http://schemas.openxmlformats.org/drawingml/2006/main">
            <a:off x="685800" y="2130425"/>
            <a:ext cx="7772400" cy="14700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Subtitle"/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371600" y="3886200"/>
            <a:ext cx="6400800" cy="1752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3.xml><?xml version="1.0" encoding="utf-8"?>
<p:sldLayout xmlns:p="http://schemas.openxmlformats.org/presentationml/2006/main" type="objTx">
  <p:cSld name="Title and Content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Content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ColTx">
  <p:cSld name="Two Content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Content Left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4" name="Content Right"/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172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5.xml><?xml version="1.0" encoding="utf-8"?>
<p:sldLayout xmlns:p="http://schemas.openxmlformats.org/presentationml/2006/main" type="titleOnly">
  <p:cSld name="Title Only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Relationship Type="http://schemas.openxmlformats.org/officeDocument/2006/relationships/theme" Target="/ppt/theme/theme1.xml" Id="Rad3146e8f0f04066" /><Relationship Type="http://schemas.openxmlformats.org/officeDocument/2006/relationships/slideLayout" Target="/ppt/slideLayouts/slideLayout2.xml" Id="rId2" /><Relationship Type="http://schemas.openxmlformats.org/officeDocument/2006/relationships/slideLayout" Target="/ppt/slideLayouts/slideLayout3.xml" Id="rId3" /><Relationship Type="http://schemas.openxmlformats.org/officeDocument/2006/relationships/slideLayout" Target="/ppt/slideLayouts/slideLayout4.xml" Id="rId4" /><Relationship Type="http://schemas.openxmlformats.org/officeDocument/2006/relationships/slideLayout" Target="/ppt/slideLayouts/slideLayout5.xml" Id="rId5" /></Relationships>
</file>

<file path=ppt/slideMasters/slideMaster1.xml><?xml version="1.0" encoding="utf-8"?>
<p:sldMaster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Id1"/>
    <p:sldLayoutId xmlns:r="http://schemas.openxmlformats.org/officeDocument/2006/relationships" id="2147483650" r:id="rId2"/>
    <p:sldLayoutId xmlns:r="http://schemas.openxmlformats.org/officeDocument/2006/relationships" id="2147483651" r:id="rId3"/>
    <p:sldLayoutId xmlns:r="http://schemas.openxmlformats.org/officeDocument/2006/relationships" id="2147483652" r:id="rId4"/>
    <p:sldLayoutId xmlns:r="http://schemas.openxmlformats.org/officeDocument/2006/relationships" id="2147483653" r:id="rId5"/>
  </p:sldLayoutIdLst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39ba4601866423c" /><Relationship Type="http://schemas.openxmlformats.org/officeDocument/2006/relationships/notesSlide" Target="/ppt/notesSlides/notesSlide1.xml" Id="Rad47cf122dbb4cc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78054675e234e70" /><Relationship Type="http://schemas.openxmlformats.org/officeDocument/2006/relationships/notesSlide" Target="/ppt/notesSlides/notesSlide2.xml" Id="R3fbb6a23a4094f1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546a70d6bfa4699" /><Relationship Type="http://schemas.openxmlformats.org/officeDocument/2006/relationships/notesSlide" Target="/ppt/notesSlides/notesSlide3.xml" Id="Rfcece90d48cb467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698037bc08f4e97" /><Relationship Type="http://schemas.openxmlformats.org/officeDocument/2006/relationships/notesSlide" Target="/ppt/notesSlides/notesSlide4.xml" Id="R7b0759ff8fd14a7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8e315333079412f" /><Relationship Type="http://schemas.openxmlformats.org/officeDocument/2006/relationships/notesSlide" Target="/ppt/notesSlides/notesSlide5.xml" Id="R8c62fa76e7a74e2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fc9127ce6cf4370" /><Relationship Type="http://schemas.openxmlformats.org/officeDocument/2006/relationships/notesSlide" Target="/ppt/notesSlides/notesSlide6.xml" Id="R8d06c140fcac409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E2761"/>
        </a:solidFill>
      </p:bgPr>
    </p:bg>
    <p:spTree>
      <p:nvGrpSpPr>
        <p:cNvPr id="1" name=""/>
        <p:cNvGrpSpPr/>
        <p:nvPr/>
      </p:nvGrpSpPr>
      <p:grpSpPr/>
      <p:sp>
        <p:nvSpPr>
          <p:cNvPr id="100000" name="TextBox 1"/>
          <p:cNvSpPr/>
          <p:nvPr/>
        </p:nvSpPr>
        <p:spPr>
          <a:xfrm xmlns:a="http://schemas.openxmlformats.org/drawingml/2006/main">
            <a:off x="720000" y="1440000"/>
            <a:ext cx="10753200" cy="144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6400" b="1">
                <a:solidFill>
                  <a:srgbClr val="FFFFFF"/>
                </a:solidFill>
                <a:latin typeface="Georgia"/>
                <a:ea typeface="Georgia"/>
              </a:rPr>
              <a:t>ToyTrade</a:t>
            </a:r>
          </a:p>
        </p:txBody>
      </p:sp>
      <p:sp>
        <p:nvSpPr>
          <p:cNvPr id="100001" name="TextBox 2"/>
          <p:cNvSpPr/>
          <p:nvPr/>
        </p:nvSpPr>
        <p:spPr>
          <a:xfrm xmlns:a="http://schemas.openxmlformats.org/drawingml/2006/main">
            <a:off x="756000" y="2952000"/>
            <a:ext cx="10753200" cy="72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200">
                <a:solidFill>
                  <a:srgbClr val="CADCFC"/>
                </a:solidFill>
                <a:latin typeface="Calibri"/>
                <a:ea typeface="Calibri"/>
              </a:rPr>
              <a:t>Secure, Provenance-Tracked Kids' Toy Exchange on Nervos CKB</a:t>
            </a:r>
          </a:p>
        </p:txBody>
      </p:sp>
      <p:sp>
        <p:nvSpPr>
          <p:cNvPr id="100002" name="TextBox 3"/>
          <p:cNvSpPr/>
          <p:nvPr/>
        </p:nvSpPr>
        <p:spPr>
          <a:xfrm xmlns:a="http://schemas.openxmlformats.org/drawingml/2006/main">
            <a:off x="756000" y="5040000"/>
            <a:ext cx="7200000" cy="108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600">
                <a:solidFill>
                  <a:srgbClr val="8899BB"/>
                </a:solidFill>
                <a:latin typeface="Calibri"/>
                <a:ea typeface="Calibri"/>
              </a:rPr>
              <a:t>A Blockchain-Powered Alternative to Buying New</a:t>
            </a:r>
          </a:p>
          <a:p xmlns:a="http://schemas.openxmlformats.org/drawingml/2006/main">
            <a:r>
              <a:rPr lang="en-US" sz="1600">
                <a:solidFill>
                  <a:srgbClr val="8899BB"/>
                </a:solidFill>
                <a:latin typeface="Calibri"/>
                <a:ea typeface="Calibri"/>
              </a:rPr>
              <a:t>August 2026</a:t>
            </a:r>
          </a:p>
        </p:txBody>
      </p:sp>
    </p:spTree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9F6F0"/>
        </a:solidFill>
      </p:bgPr>
    </p:bg>
    <p:spTree>
      <p:nvGrpSpPr>
        <p:cNvPr id="1" name=""/>
        <p:cNvGrpSpPr/>
        <p:nvPr/>
      </p:nvGrpSpPr>
      <p:grpSpPr/>
      <p:sp>
        <p:nvSpPr>
          <p:cNvPr id="100003" name="TextBox 1"/>
          <p:cNvSpPr/>
          <p:nvPr/>
        </p:nvSpPr>
        <p:spPr>
          <a:xfrm xmlns:a="http://schemas.openxmlformats.org/drawingml/2006/main">
            <a:off x="540000" y="457200"/>
            <a:ext cx="11113200" cy="54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3800" b="1">
                <a:solidFill>
                  <a:srgbClr val="1E2761"/>
                </a:solidFill>
                <a:latin typeface="Georgia"/>
                <a:ea typeface="Georgia"/>
              </a:rPr>
              <a:t>Why Parents Need ToyTrade</a:t>
            </a:r>
          </a:p>
        </p:txBody>
      </p:sp>
      <p:sp>
        <p:nvSpPr>
          <p:cNvPr id="100004" name="TextBox 2"/>
          <p:cNvSpPr/>
          <p:nvPr/>
        </p:nvSpPr>
        <p:spPr>
          <a:xfrm xmlns:a="http://schemas.openxmlformats.org/drawingml/2006/main">
            <a:off x="540000" y="1260000"/>
            <a:ext cx="5220000" cy="468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E0E0E0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005" name="TextBox 3"/>
          <p:cNvSpPr/>
          <p:nvPr/>
        </p:nvSpPr>
        <p:spPr>
          <a:xfrm xmlns:a="http://schemas.openxmlformats.org/drawingml/2006/main">
            <a:off x="900000" y="1620000"/>
            <a:ext cx="4500000" cy="72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400" b="1">
                <a:solidFill>
                  <a:srgbClr val="B85042"/>
                </a:solidFill>
                <a:latin typeface="Georgia"/>
                <a:ea typeface="Georgia"/>
              </a:rPr>
              <a:t>The Problem</a:t>
            </a:r>
          </a:p>
        </p:txBody>
      </p:sp>
      <p:sp>
        <p:nvSpPr>
          <p:cNvPr id="100006" name="TextBox 4"/>
          <p:cNvSpPr/>
          <p:nvPr/>
        </p:nvSpPr>
        <p:spPr>
          <a:xfrm xmlns:a="http://schemas.openxmlformats.org/drawingml/2006/main">
            <a:off x="900000" y="2340000"/>
            <a:ext cx="4500000" cy="288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800">
                <a:solidFill>
                  <a:srgbClr val="333333"/>
                </a:solidFill>
                <a:latin typeface="Calibri"/>
                <a:ea typeface="Calibri"/>
              </a:rPr>
              <a:t>• Kids outgrow toys quickly, creating constant expenses for parents.</a:t>
            </a:r>
          </a:p>
          <a:p xmlns:a="http://schemas.openxmlformats.org/drawingml/2006/main">
            <a:r>
              <a:rPr lang="en-US" sz="1800">
                <a:solidFill>
                  <a:srgbClr val="333333"/>
                </a:solidFill>
                <a:latin typeface="Calibri"/>
                <a:ea typeface="Calibri"/>
              </a:rPr>
              <a:t/>
            </a:r>
          </a:p>
          <a:p xmlns:a="http://schemas.openxmlformats.org/drawingml/2006/main">
            <a:r>
              <a:rPr lang="en-US" sz="1800">
                <a:solidFill>
                  <a:srgbClr val="333333"/>
                </a:solidFill>
                <a:latin typeface="Calibri"/>
                <a:ea typeface="Calibri"/>
              </a:rPr>
              <a:t>• High cost of new premium sets (e.g. LEGO, educational toys).</a:t>
            </a:r>
          </a:p>
          <a:p xmlns:a="http://schemas.openxmlformats.org/drawingml/2006/main">
            <a:r>
              <a:rPr lang="en-US" sz="1800">
                <a:solidFill>
                  <a:srgbClr val="333333"/>
                </a:solidFill>
                <a:latin typeface="Calibri"/>
                <a:ea typeface="Calibri"/>
              </a:rPr>
              <a:t/>
            </a:r>
          </a:p>
          <a:p xmlns:a="http://schemas.openxmlformats.org/drawingml/2006/main">
            <a:r>
              <a:rPr lang="en-US" sz="1800">
                <a:solidFill>
                  <a:srgbClr val="333333"/>
                </a:solidFill>
                <a:latin typeface="Calibri"/>
                <a:ea typeface="Calibri"/>
              </a:rPr>
              <a:t>• Trading physical items locally lacks transactional trust.</a:t>
            </a:r>
          </a:p>
        </p:txBody>
      </p:sp>
      <p:sp>
        <p:nvSpPr>
          <p:cNvPr id="100007" name="TextBox 5"/>
          <p:cNvSpPr/>
          <p:nvPr/>
        </p:nvSpPr>
        <p:spPr>
          <a:xfrm xmlns:a="http://schemas.openxmlformats.org/drawingml/2006/main">
            <a:off x="6300000" y="1260000"/>
            <a:ext cx="5220000" cy="468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E2761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008" name="TextBox 6"/>
          <p:cNvSpPr/>
          <p:nvPr/>
        </p:nvSpPr>
        <p:spPr>
          <a:xfrm xmlns:a="http://schemas.openxmlformats.org/drawingml/2006/main">
            <a:off x="6660000" y="1620000"/>
            <a:ext cx="4500000" cy="72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400" b="1">
                <a:solidFill>
                  <a:srgbClr val="CADCFC"/>
                </a:solidFill>
                <a:latin typeface="Georgia"/>
                <a:ea typeface="Georgia"/>
              </a:rPr>
              <a:t>The CKB Solution</a:t>
            </a:r>
          </a:p>
        </p:txBody>
      </p:sp>
      <p:sp>
        <p:nvSpPr>
          <p:cNvPr id="100009" name="TextBox 7"/>
          <p:cNvSpPr/>
          <p:nvPr/>
        </p:nvSpPr>
        <p:spPr>
          <a:xfrm xmlns:a="http://schemas.openxmlformats.org/drawingml/2006/main">
            <a:off x="6660000" y="2340000"/>
            <a:ext cx="4500000" cy="288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800">
                <a:solidFill>
                  <a:srgbClr val="FFFFFF"/>
                </a:solidFill>
                <a:latin typeface="Calibri"/>
                <a:ea typeface="Calibri"/>
              </a:rPr>
              <a:t>• Trust Escrow Script locks CKB payments atomically until delivery.</a:t>
            </a:r>
          </a:p>
          <a:p xmlns:a="http://schemas.openxmlformats.org/drawingml/2006/main">
            <a:r>
              <a:rPr lang="en-US" sz="1800">
                <a:solidFill>
                  <a:srgbClr val="FFFFFF"/>
                </a:solidFill>
                <a:latin typeface="Calibri"/>
                <a:ea typeface="Calibri"/>
              </a:rPr>
              <a:t/>
            </a:r>
          </a:p>
          <a:p xmlns:a="http://schemas.openxmlformats.org/drawingml/2006/main">
            <a:r>
              <a:rPr lang="en-US" sz="1800">
                <a:solidFill>
                  <a:srgbClr val="FFFFFF"/>
                </a:solidFill>
                <a:latin typeface="Calibri"/>
                <a:ea typeface="Calibri"/>
              </a:rPr>
              <a:t>• Toy Passport DOB stores trading history and owner reviews directly on-chain.</a:t>
            </a:r>
          </a:p>
          <a:p xmlns:a="http://schemas.openxmlformats.org/drawingml/2006/main">
            <a:r>
              <a:rPr lang="en-US" sz="1800">
                <a:solidFill>
                  <a:srgbClr val="FFFFFF"/>
                </a:solidFill>
                <a:latin typeface="Calibri"/>
                <a:ea typeface="Calibri"/>
              </a:rPr>
              <a:t/>
            </a:r>
          </a:p>
          <a:p xmlns:a="http://schemas.openxmlformats.org/drawingml/2006/main">
            <a:r>
              <a:rPr lang="en-US" sz="1800">
                <a:solidFill>
                  <a:srgbClr val="FFFFFF"/>
                </a:solidFill>
                <a:latin typeface="Calibri"/>
                <a:ea typeface="Calibri"/>
              </a:rPr>
              <a:t>• Seamless JoyID authentication allows parents to login with a fingerprint.</a:t>
            </a:r>
          </a:p>
        </p:txBody>
      </p:sp>
    </p:spTree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9F6F0"/>
        </a:solidFill>
      </p:bgPr>
    </p:bg>
    <p:spTree>
      <p:nvGrpSpPr>
        <p:cNvPr id="1" name=""/>
        <p:cNvGrpSpPr/>
        <p:nvPr/>
      </p:nvGrpSpPr>
      <p:grpSpPr/>
      <p:sp>
        <p:nvSpPr>
          <p:cNvPr id="100010" name="TextBox 1"/>
          <p:cNvSpPr/>
          <p:nvPr/>
        </p:nvSpPr>
        <p:spPr>
          <a:xfrm xmlns:a="http://schemas.openxmlformats.org/drawingml/2006/main">
            <a:off x="540000" y="457200"/>
            <a:ext cx="11113200" cy="54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3800" b="1">
                <a:solidFill>
                  <a:srgbClr val="1E2761"/>
                </a:solidFill>
                <a:latin typeface="Georgia"/>
                <a:ea typeface="Georgia"/>
              </a:rPr>
              <a:t>Three-Price Market Integrity</a:t>
            </a:r>
          </a:p>
        </p:txBody>
      </p:sp>
      <p:sp>
        <p:nvSpPr>
          <p:cNvPr id="100011" name="TextBox 2"/>
          <p:cNvSpPr/>
          <p:nvPr/>
        </p:nvSpPr>
        <p:spPr>
          <a:xfrm xmlns:a="http://schemas.openxmlformats.org/drawingml/2006/main">
            <a:off x="540000" y="1620000"/>
            <a:ext cx="3420000" cy="360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E0E0E0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012" name="TextBox 3"/>
          <p:cNvSpPr/>
          <p:nvPr/>
        </p:nvSpPr>
        <p:spPr>
          <a:xfrm xmlns:a="http://schemas.openxmlformats.org/drawingml/2006/main">
            <a:off x="900000" y="1980000"/>
            <a:ext cx="2700000" cy="54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200" b="1">
                <a:solidFill>
                  <a:srgbClr val="1E2761"/>
                </a:solidFill>
                <a:latin typeface="Georgia"/>
                <a:ea typeface="Georgia"/>
              </a:rPr>
              <a:t>① Seller's Price</a:t>
            </a:r>
          </a:p>
        </p:txBody>
      </p:sp>
      <p:sp>
        <p:nvSpPr>
          <p:cNvPr id="100013" name="TextBox 4"/>
          <p:cNvSpPr/>
          <p:nvPr/>
        </p:nvSpPr>
        <p:spPr>
          <a:xfrm xmlns:a="http://schemas.openxmlformats.org/drawingml/2006/main">
            <a:off x="900000" y="2700000"/>
            <a:ext cx="2700000" cy="198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800">
                <a:solidFill>
                  <a:srgbClr val="333333"/>
                </a:solidFill>
                <a:latin typeface="Calibri"/>
                <a:ea typeface="Calibri"/>
              </a:rPr>
              <a:t>Set directly by parents in their local fiat currency (GBP / VND).</a:t>
            </a:r>
          </a:p>
          <a:p xmlns:a="http://schemas.openxmlformats.org/drawingml/2006/main">
            <a:r>
              <a:rPr lang="en-US" sz="1800">
                <a:solidFill>
                  <a:srgbClr val="333333"/>
                </a:solidFill>
                <a:latin typeface="Calibri"/>
                <a:ea typeface="Calibri"/>
              </a:rPr>
              <a:t/>
            </a:r>
          </a:p>
          <a:p xmlns:a="http://schemas.openxmlformats.org/drawingml/2006/main">
            <a:r>
              <a:rPr lang="en-US" sz="1800">
                <a:solidFill>
                  <a:srgbClr val="333333"/>
                </a:solidFill>
                <a:latin typeface="Calibri"/>
                <a:ea typeface="Calibri"/>
              </a:rPr>
              <a:t>Keeps pricing natural and simple for everyday users.</a:t>
            </a:r>
          </a:p>
        </p:txBody>
      </p:sp>
      <p:sp>
        <p:nvSpPr>
          <p:cNvPr id="100014" name="TextBox 5"/>
          <p:cNvSpPr/>
          <p:nvPr/>
        </p:nvSpPr>
        <p:spPr>
          <a:xfrm xmlns:a="http://schemas.openxmlformats.org/drawingml/2006/main">
            <a:off x="4320000" y="1620000"/>
            <a:ext cx="3420000" cy="360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E0E0E0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015" name="TextBox 6"/>
          <p:cNvSpPr/>
          <p:nvPr/>
        </p:nvSpPr>
        <p:spPr>
          <a:xfrm xmlns:a="http://schemas.openxmlformats.org/drawingml/2006/main">
            <a:off x="4680000" y="1980000"/>
            <a:ext cx="2700000" cy="54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200" b="1">
                <a:solidFill>
                  <a:srgbClr val="B85042"/>
                </a:solidFill>
                <a:latin typeface="Georgia"/>
                <a:ea typeface="Georgia"/>
              </a:rPr>
              <a:t>② Market Reference</a:t>
            </a:r>
          </a:p>
        </p:txBody>
      </p:sp>
      <p:sp>
        <p:nvSpPr>
          <p:cNvPr id="100016" name="TextBox 7"/>
          <p:cNvSpPr/>
          <p:nvPr/>
        </p:nvSpPr>
        <p:spPr>
          <a:xfrm xmlns:a="http://schemas.openxmlformats.org/drawingml/2006/main">
            <a:off x="4680000" y="2700000"/>
            <a:ext cx="2700000" cy="198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800">
                <a:solidFill>
                  <a:srgbClr val="333333"/>
                </a:solidFill>
                <a:latin typeface="Calibri"/>
                <a:ea typeface="Calibri"/>
              </a:rPr>
              <a:t>Extracted automatically via Google Lens (SerpApi) visual match.</a:t>
            </a:r>
          </a:p>
          <a:p xmlns:a="http://schemas.openxmlformats.org/drawingml/2006/main">
            <a:r>
              <a:rPr lang="en-US" sz="1800">
                <a:solidFill>
                  <a:srgbClr val="333333"/>
                </a:solidFill>
                <a:latin typeface="Calibri"/>
                <a:ea typeface="Calibri"/>
              </a:rPr>
              <a:t/>
            </a:r>
          </a:p>
          <a:p xmlns:a="http://schemas.openxmlformats.org/drawingml/2006/main">
            <a:r>
              <a:rPr lang="en-US" sz="1800">
                <a:solidFill>
                  <a:srgbClr val="333333"/>
                </a:solidFill>
                <a:latin typeface="Calibri"/>
                <a:ea typeface="Calibri"/>
              </a:rPr>
              <a:t>Protects parents against overpriced listings.</a:t>
            </a:r>
          </a:p>
        </p:txBody>
      </p:sp>
      <p:sp>
        <p:nvSpPr>
          <p:cNvPr id="100017" name="TextBox 8"/>
          <p:cNvSpPr/>
          <p:nvPr/>
        </p:nvSpPr>
        <p:spPr>
          <a:xfrm xmlns:a="http://schemas.openxmlformats.org/drawingml/2006/main">
            <a:off x="8100000" y="1620000"/>
            <a:ext cx="3420000" cy="360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E2761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018" name="TextBox 9"/>
          <p:cNvSpPr/>
          <p:nvPr/>
        </p:nvSpPr>
        <p:spPr>
          <a:xfrm xmlns:a="http://schemas.openxmlformats.org/drawingml/2006/main">
            <a:off x="8460000" y="1980000"/>
            <a:ext cx="2700000" cy="54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200" b="1">
                <a:solidFill>
                  <a:srgbClr val="CADCFC"/>
                </a:solidFill>
                <a:latin typeface="Georgia"/>
                <a:ea typeface="Georgia"/>
              </a:rPr>
              <a:t>③ CKB Equivalent</a:t>
            </a:r>
          </a:p>
        </p:txBody>
      </p:sp>
      <p:sp>
        <p:nvSpPr>
          <p:cNvPr id="100019" name="TextBox 10"/>
          <p:cNvSpPr/>
          <p:nvPr/>
        </p:nvSpPr>
        <p:spPr>
          <a:xfrm xmlns:a="http://schemas.openxmlformats.org/drawingml/2006/main">
            <a:off x="8460000" y="2700000"/>
            <a:ext cx="2700000" cy="198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800">
                <a:solidFill>
                  <a:srgbClr val="FFFFFF"/>
                </a:solidFill>
                <a:latin typeface="Calibri"/>
                <a:ea typeface="Calibri"/>
              </a:rPr>
              <a:t>Calculated in real-time from CoinGecko feeds.</a:t>
            </a:r>
          </a:p>
          <a:p xmlns:a="http://schemas.openxmlformats.org/drawingml/2006/main">
            <a:r>
              <a:rPr lang="en-US" sz="1800">
                <a:solidFill>
                  <a:srgbClr val="FFFFFF"/>
                </a:solidFill>
                <a:latin typeface="Calibri"/>
                <a:ea typeface="Calibri"/>
              </a:rPr>
              <a:t/>
            </a:r>
          </a:p>
          <a:p xmlns:a="http://schemas.openxmlformats.org/drawingml/2006/main">
            <a:r>
              <a:rPr lang="en-US" sz="1800">
                <a:solidFill>
                  <a:srgbClr val="FFFFFF"/>
                </a:solidFill>
                <a:latin typeface="Calibri"/>
                <a:ea typeface="Calibri"/>
              </a:rPr>
              <a:t>Locked at trade initiation for settlement in the escrow contract.</a:t>
            </a:r>
          </a:p>
        </p:txBody>
      </p:sp>
    </p:spTree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9F6F0"/>
        </a:solidFill>
      </p:bgPr>
    </p:bg>
    <p:spTree>
      <p:nvGrpSpPr>
        <p:cNvPr id="1" name=""/>
        <p:cNvGrpSpPr/>
        <p:nvPr/>
      </p:nvGrpSpPr>
      <p:grpSpPr/>
      <p:sp>
        <p:nvSpPr>
          <p:cNvPr id="100020" name="TextBox 1"/>
          <p:cNvSpPr/>
          <p:nvPr/>
        </p:nvSpPr>
        <p:spPr>
          <a:xfrm xmlns:a="http://schemas.openxmlformats.org/drawingml/2006/main">
            <a:off x="540000" y="457200"/>
            <a:ext cx="11113200" cy="54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3800" b="1">
                <a:solidFill>
                  <a:srgbClr val="1E2761"/>
                </a:solidFill>
                <a:latin typeface="Georgia"/>
                <a:ea typeface="Georgia"/>
              </a:rPr>
              <a:t>How the Trade Settles on CKB</a:t>
            </a:r>
          </a:p>
        </p:txBody>
      </p:sp>
      <p:sp>
        <p:nvSpPr>
          <p:cNvPr id="100021" name="TextBox 2"/>
          <p:cNvSpPr/>
          <p:nvPr/>
        </p:nvSpPr>
        <p:spPr>
          <a:xfrm xmlns:a="http://schemas.openxmlformats.org/drawingml/2006/main">
            <a:off x="540000" y="1620000"/>
            <a:ext cx="1440000" cy="54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761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800" b="1">
                <a:solidFill>
                  <a:srgbClr val="FFFFFF"/>
                </a:solidFill>
                <a:latin typeface="Georgia"/>
                <a:ea typeface="Georgia"/>
              </a:rPr>
              <a:t>1. Escrow Lock</a:t>
            </a:r>
          </a:p>
        </p:txBody>
      </p:sp>
      <p:sp>
        <p:nvSpPr>
          <p:cNvPr id="100022" name="TextBox 3"/>
          <p:cNvSpPr/>
          <p:nvPr/>
        </p:nvSpPr>
        <p:spPr>
          <a:xfrm xmlns:a="http://schemas.openxmlformats.org/drawingml/2006/main">
            <a:off x="2160000" y="1620000"/>
            <a:ext cx="9000000" cy="54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800">
                <a:solidFill>
                  <a:srgbClr val="333333"/>
                </a:solidFill>
                <a:latin typeface="Calibri"/>
                <a:ea typeface="Calibri"/>
              </a:rPr>
              <a:t>Buyer connects via JoyID and locks CKB equivalent into the custom Escrow Lock Cell.</a:t>
            </a:r>
          </a:p>
        </p:txBody>
      </p:sp>
      <p:sp>
        <p:nvSpPr>
          <p:cNvPr id="100023" name="TextBox 4"/>
          <p:cNvSpPr/>
          <p:nvPr/>
        </p:nvSpPr>
        <p:spPr>
          <a:xfrm xmlns:a="http://schemas.openxmlformats.org/drawingml/2006/main">
            <a:off x="540000" y="2700000"/>
            <a:ext cx="1440000" cy="54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761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800" b="1">
                <a:solidFill>
                  <a:srgbClr val="FFFFFF"/>
                </a:solidFill>
                <a:latin typeface="Georgia"/>
                <a:ea typeface="Georgia"/>
              </a:rPr>
              <a:t>2. Handover</a:t>
            </a:r>
          </a:p>
        </p:txBody>
      </p:sp>
      <p:sp>
        <p:nvSpPr>
          <p:cNvPr id="100024" name="TextBox 5"/>
          <p:cNvSpPr/>
          <p:nvPr/>
        </p:nvSpPr>
        <p:spPr>
          <a:xfrm xmlns:a="http://schemas.openxmlformats.org/drawingml/2006/main">
            <a:off x="2160000" y="2700000"/>
            <a:ext cx="9000000" cy="54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800">
                <a:solidFill>
                  <a:srgbClr val="333333"/>
                </a:solidFill>
                <a:latin typeface="Calibri"/>
                <a:ea typeface="Calibri"/>
              </a:rPr>
              <a:t>Seller delivers the toy (via local meetup or tracked shipping service).</a:t>
            </a:r>
          </a:p>
        </p:txBody>
      </p:sp>
      <p:sp>
        <p:nvSpPr>
          <p:cNvPr id="100025" name="TextBox 6"/>
          <p:cNvSpPr/>
          <p:nvPr/>
        </p:nvSpPr>
        <p:spPr>
          <a:xfrm xmlns:a="http://schemas.openxmlformats.org/drawingml/2006/main">
            <a:off x="540000" y="3780000"/>
            <a:ext cx="1440000" cy="54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761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800" b="1">
                <a:solidFill>
                  <a:srgbClr val="FFFFFF"/>
                </a:solidFill>
                <a:latin typeface="Georgia"/>
                <a:ea typeface="Georgia"/>
              </a:rPr>
              <a:t>3. Settlement</a:t>
            </a:r>
          </a:p>
        </p:txBody>
      </p:sp>
      <p:sp>
        <p:nvSpPr>
          <p:cNvPr id="100026" name="TextBox 7"/>
          <p:cNvSpPr/>
          <p:nvPr/>
        </p:nvSpPr>
        <p:spPr>
          <a:xfrm xmlns:a="http://schemas.openxmlformats.org/drawingml/2006/main">
            <a:off x="2160000" y="3780000"/>
            <a:ext cx="9000000" cy="54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800">
                <a:solidFill>
                  <a:srgbClr val="333333"/>
                </a:solidFill>
                <a:latin typeface="Calibri"/>
                <a:ea typeface="Calibri"/>
              </a:rPr>
              <a:t>Dual confirmation triggers release of CKB to the seller and transfers the Toy Passport DOB to the buyer.</a:t>
            </a:r>
          </a:p>
        </p:txBody>
      </p:sp>
      <p:sp>
        <p:nvSpPr>
          <p:cNvPr id="100027" name="TextBox 8"/>
          <p:cNvSpPr/>
          <p:nvPr/>
        </p:nvSpPr>
        <p:spPr>
          <a:xfrm xmlns:a="http://schemas.openxmlformats.org/drawingml/2006/main">
            <a:off x="540000" y="4860000"/>
            <a:ext cx="1440000" cy="54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5042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800" b="1">
                <a:solidFill>
                  <a:srgbClr val="FFFFFF"/>
                </a:solidFill>
                <a:latin typeface="Georgia"/>
                <a:ea typeface="Georgia"/>
              </a:rPr>
              <a:t>Safeguard</a:t>
            </a:r>
          </a:p>
        </p:txBody>
      </p:sp>
      <p:sp>
        <p:nvSpPr>
          <p:cNvPr id="100028" name="TextBox 9"/>
          <p:cNvSpPr/>
          <p:nvPr/>
        </p:nvSpPr>
        <p:spPr>
          <a:xfrm xmlns:a="http://schemas.openxmlformats.org/drawingml/2006/main">
            <a:off x="2160000" y="4860000"/>
            <a:ext cx="9000000" cy="54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800">
                <a:solidFill>
                  <a:srgbClr val="333333"/>
                </a:solidFill>
                <a:latin typeface="Calibri"/>
                <a:ea typeface="Calibri"/>
              </a:rPr>
              <a:t>Timeout refund allows the buyer to reclaim locked CKB if the trade fails after 7 days.</a:t>
            </a:r>
          </a:p>
        </p:txBody>
      </p:sp>
    </p:spTree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9F6F0"/>
        </a:solidFill>
      </p:bgPr>
    </p:bg>
    <p:spTree>
      <p:nvGrpSpPr>
        <p:cNvPr id="1" name=""/>
        <p:cNvGrpSpPr/>
        <p:nvPr/>
      </p:nvGrpSpPr>
      <p:grpSpPr/>
      <p:sp>
        <p:nvSpPr>
          <p:cNvPr id="100029" name="TextBox 1"/>
          <p:cNvSpPr/>
          <p:nvPr/>
        </p:nvSpPr>
        <p:spPr>
          <a:xfrm xmlns:a="http://schemas.openxmlformats.org/drawingml/2006/main">
            <a:off x="540000" y="457200"/>
            <a:ext cx="11113200" cy="54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3800" b="1">
                <a:solidFill>
                  <a:srgbClr val="1E2761"/>
                </a:solidFill>
                <a:latin typeface="Georgia"/>
                <a:ea typeface="Georgia"/>
              </a:rPr>
              <a:t>MVP Technical &amp; Security Parameters</a:t>
            </a:r>
          </a:p>
        </p:txBody>
      </p:sp>
      <p:sp>
        <p:nvSpPr>
          <p:cNvPr id="100030" name="TextBox 2"/>
          <p:cNvSpPr/>
          <p:nvPr/>
        </p:nvSpPr>
        <p:spPr>
          <a:xfrm xmlns:a="http://schemas.openxmlformats.org/drawingml/2006/main">
            <a:off x="540000" y="1260000"/>
            <a:ext cx="3420000" cy="468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E0E0E0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031" name="TextBox 3"/>
          <p:cNvSpPr/>
          <p:nvPr/>
        </p:nvSpPr>
        <p:spPr>
          <a:xfrm xmlns:a="http://schemas.openxmlformats.org/drawingml/2006/main">
            <a:off x="792000" y="1512000"/>
            <a:ext cx="2916000" cy="54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200" b="1">
                <a:solidFill>
                  <a:srgbClr val="B85042"/>
                </a:solidFill>
                <a:latin typeface="Georgia"/>
                <a:ea typeface="Georgia"/>
              </a:rPr>
              <a:t>1. Escrow Lock</a:t>
            </a:r>
          </a:p>
        </p:txBody>
      </p:sp>
      <p:sp>
        <p:nvSpPr>
          <p:cNvPr id="100032" name="TextBox 4"/>
          <p:cNvSpPr/>
          <p:nvPr/>
        </p:nvSpPr>
        <p:spPr>
          <a:xfrm xmlns:a="http://schemas.openxmlformats.org/drawingml/2006/main">
            <a:off x="792000" y="2160000"/>
            <a:ext cx="2916000" cy="36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600">
                <a:solidFill>
                  <a:srgbClr val="333333"/>
                </a:solidFill>
                <a:latin typeface="Calibri"/>
                <a:ea typeface="Calibri"/>
              </a:rPr>
              <a:t>• Current Rule: Checks input cell lock hashes to authorize swaps.</a:t>
            </a:r>
          </a:p>
          <a:p xmlns:a="http://schemas.openxmlformats.org/drawingml/2006/main">
            <a:r>
              <a:rPr lang="en-US" sz="1600">
                <a:solidFill>
                  <a:srgbClr val="333333"/>
                </a:solidFill>
                <a:latin typeface="Calibri"/>
                <a:ea typeface="Calibri"/>
              </a:rPr>
              <a:t/>
            </a:r>
          </a:p>
          <a:p xmlns:a="http://schemas.openxmlformats.org/drawingml/2006/main">
            <a:r>
              <a:rPr lang="en-US" sz="1600">
                <a:solidFill>
                  <a:srgbClr val="333333"/>
                </a:solidFill>
                <a:latin typeface="Calibri"/>
                <a:ea typeface="Calibri"/>
              </a:rPr>
              <a:t>• MVP Risk: Lacks direct witness signature hash mapping on active cells.</a:t>
            </a:r>
          </a:p>
          <a:p xmlns:a="http://schemas.openxmlformats.org/drawingml/2006/main">
            <a:r>
              <a:rPr lang="en-US" sz="1600">
                <a:solidFill>
                  <a:srgbClr val="333333"/>
                </a:solidFill>
                <a:latin typeface="Calibri"/>
                <a:ea typeface="Calibri"/>
              </a:rPr>
              <a:t/>
            </a:r>
          </a:p>
          <a:p xmlns:a="http://schemas.openxmlformats.org/drawingml/2006/main">
            <a:r>
              <a:rPr lang="en-US" sz="1600">
                <a:solidFill>
                  <a:srgbClr val="333333"/>
                </a:solidFill>
                <a:latin typeface="Calibri"/>
                <a:ea typeface="Calibri"/>
              </a:rPr>
              <a:t>• Production Fix: Enforce cryptographic witness signatures inside the Rust smart contract execution.</a:t>
            </a:r>
          </a:p>
        </p:txBody>
      </p:sp>
      <p:sp>
        <p:nvSpPr>
          <p:cNvPr id="100033" name="TextBox 5"/>
          <p:cNvSpPr/>
          <p:nvPr/>
        </p:nvSpPr>
        <p:spPr>
          <a:xfrm xmlns:a="http://schemas.openxmlformats.org/drawingml/2006/main">
            <a:off x="4320000" y="1260000"/>
            <a:ext cx="3420000" cy="468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E0E0E0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034" name="TextBox 6"/>
          <p:cNvSpPr/>
          <p:nvPr/>
        </p:nvSpPr>
        <p:spPr>
          <a:xfrm xmlns:a="http://schemas.openxmlformats.org/drawingml/2006/main">
            <a:off x="4572000" y="1512000"/>
            <a:ext cx="2916000" cy="54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200" b="1">
                <a:solidFill>
                  <a:srgbClr val="B85042"/>
                </a:solidFill>
                <a:latin typeface="Georgia"/>
                <a:ea typeface="Georgia"/>
              </a:rPr>
              <a:t>2. API Security</a:t>
            </a:r>
          </a:p>
        </p:txBody>
      </p:sp>
      <p:sp>
        <p:nvSpPr>
          <p:cNvPr id="100035" name="TextBox 7"/>
          <p:cNvSpPr/>
          <p:nvPr/>
        </p:nvSpPr>
        <p:spPr>
          <a:xfrm xmlns:a="http://schemas.openxmlformats.org/drawingml/2006/main">
            <a:off x="4572000" y="2160000"/>
            <a:ext cx="2916000" cy="36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600">
                <a:solidFill>
                  <a:srgbClr val="333333"/>
                </a:solidFill>
                <a:latin typeface="Calibri"/>
                <a:ea typeface="Calibri"/>
              </a:rPr>
              <a:t>• Current Rule: Client sends role parameter on API route to trigger confirm.</a:t>
            </a:r>
          </a:p>
          <a:p xmlns:a="http://schemas.openxmlformats.org/drawingml/2006/main">
            <a:r>
              <a:rPr lang="en-US" sz="1600">
                <a:solidFill>
                  <a:srgbClr val="333333"/>
                </a:solidFill>
                <a:latin typeface="Calibri"/>
                <a:ea typeface="Calibri"/>
              </a:rPr>
              <a:t/>
            </a:r>
          </a:p>
          <a:p xmlns:a="http://schemas.openxmlformats.org/drawingml/2006/main">
            <a:r>
              <a:rPr lang="en-US" sz="1600">
                <a:solidFill>
                  <a:srgbClr val="333333"/>
                </a:solidFill>
                <a:latin typeface="Calibri"/>
                <a:ea typeface="Calibri"/>
              </a:rPr>
              <a:t>• MVP Risk: Unsigned HTTP requests can mock confirming actions.</a:t>
            </a:r>
          </a:p>
          <a:p xmlns:a="http://schemas.openxmlformats.org/drawingml/2006/main">
            <a:r>
              <a:rPr lang="en-US" sz="1600">
                <a:solidFill>
                  <a:srgbClr val="333333"/>
                </a:solidFill>
                <a:latin typeface="Calibri"/>
                <a:ea typeface="Calibri"/>
              </a:rPr>
              <a:t/>
            </a:r>
          </a:p>
          <a:p xmlns:a="http://schemas.openxmlformats.org/drawingml/2006/main">
            <a:r>
              <a:rPr lang="en-US" sz="1600">
                <a:solidFill>
                  <a:srgbClr val="333333"/>
                </a:solidFill>
                <a:latin typeface="Calibri"/>
                <a:ea typeface="Calibri"/>
              </a:rPr>
              <a:t>• Production Fix: Require JoyID message signatures to authenticate API requests on backend.</a:t>
            </a:r>
          </a:p>
        </p:txBody>
      </p:sp>
      <p:sp>
        <p:nvSpPr>
          <p:cNvPr id="100036" name="TextBox 8"/>
          <p:cNvSpPr/>
          <p:nvPr/>
        </p:nvSpPr>
        <p:spPr>
          <a:xfrm xmlns:a="http://schemas.openxmlformats.org/drawingml/2006/main">
            <a:off x="8100000" y="1260000"/>
            <a:ext cx="3420000" cy="468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E2761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037" name="TextBox 9"/>
          <p:cNvSpPr/>
          <p:nvPr/>
        </p:nvSpPr>
        <p:spPr>
          <a:xfrm xmlns:a="http://schemas.openxmlformats.org/drawingml/2006/main">
            <a:off x="8352000" y="1512000"/>
            <a:ext cx="2916000" cy="54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200" b="1">
                <a:solidFill>
                  <a:srgbClr val="CADCFC"/>
                </a:solidFill>
                <a:latin typeface="Georgia"/>
                <a:ea typeface="Georgia"/>
              </a:rPr>
              <a:t>3. Price Feeds</a:t>
            </a:r>
          </a:p>
        </p:txBody>
      </p:sp>
      <p:sp>
        <p:nvSpPr>
          <p:cNvPr id="100038" name="TextBox 10"/>
          <p:cNvSpPr/>
          <p:nvPr/>
        </p:nvSpPr>
        <p:spPr>
          <a:xfrm xmlns:a="http://schemas.openxmlformats.org/drawingml/2006/main">
            <a:off x="8352000" y="2160000"/>
            <a:ext cx="2916000" cy="36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600">
                <a:solidFill>
                  <a:srgbClr val="FFFFFF"/>
                </a:solidFill>
                <a:latin typeface="Calibri"/>
                <a:ea typeface="Calibri"/>
              </a:rPr>
              <a:t>• Current Rule: Uses CoinGecko and SerpApi visual search feeds at listing.</a:t>
            </a:r>
          </a:p>
          <a:p xmlns:a="http://schemas.openxmlformats.org/drawingml/2006/main">
            <a:r>
              <a:rPr lang="en-US" sz="1600">
                <a:solidFill>
                  <a:srgbClr val="FFFFFF"/>
                </a:solidFill>
                <a:latin typeface="Calibri"/>
                <a:ea typeface="Calibri"/>
              </a:rPr>
              <a:t/>
            </a:r>
          </a:p>
          <a:p xmlns:a="http://schemas.openxmlformats.org/drawingml/2006/main">
            <a:r>
              <a:rPr lang="en-US" sz="1600">
                <a:solidFill>
                  <a:srgbClr val="FFFFFF"/>
                </a:solidFill>
                <a:latin typeface="Calibri"/>
                <a:ea typeface="Calibri"/>
              </a:rPr>
              <a:t>• MVP Risk: Network downtime or pricing shifts affect escrow amount.</a:t>
            </a:r>
          </a:p>
          <a:p xmlns:a="http://schemas.openxmlformats.org/drawingml/2006/main">
            <a:r>
              <a:rPr lang="en-US" sz="1600">
                <a:solidFill>
                  <a:srgbClr val="FFFFFF"/>
                </a:solidFill>
                <a:latin typeface="Calibri"/>
                <a:ea typeface="Calibri"/>
              </a:rPr>
              <a:t/>
            </a:r>
          </a:p>
          <a:p xmlns:a="http://schemas.openxmlformats.org/drawingml/2006/main">
            <a:r>
              <a:rPr lang="en-US" sz="1600">
                <a:solidFill>
                  <a:srgbClr val="FFFFFF"/>
                </a:solidFill>
                <a:latin typeface="Calibri"/>
                <a:ea typeface="Calibri"/>
              </a:rPr>
              <a:t>• Production Fix: Implement on-chain oracles (e.g. DIA) to query and verify feed values.</a:t>
            </a:r>
          </a:p>
        </p:txBody>
      </p:sp>
    </p:spTree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1E2761"/>
        </a:solidFill>
      </p:bgPr>
    </p:bg>
    <p:spTree>
      <p:nvGrpSpPr>
        <p:cNvPr id="1" name=""/>
        <p:cNvGrpSpPr/>
        <p:nvPr/>
      </p:nvGrpSpPr>
      <p:grpSpPr/>
      <p:sp>
        <p:nvSpPr>
          <p:cNvPr id="100039" name="TextBox 1"/>
          <p:cNvSpPr/>
          <p:nvPr/>
        </p:nvSpPr>
        <p:spPr>
          <a:xfrm xmlns:a="http://schemas.openxmlformats.org/drawingml/2006/main">
            <a:off x="540000" y="457200"/>
            <a:ext cx="11113200" cy="54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3800" b="1">
                <a:solidFill>
                  <a:srgbClr val="FFFFFF"/>
                </a:solidFill>
                <a:latin typeface="Georgia"/>
                <a:ea typeface="Georgia"/>
              </a:rPr>
              <a:t>ToyTrade Evolutionary Roadmap</a:t>
            </a:r>
          </a:p>
        </p:txBody>
      </p:sp>
      <p:sp>
        <p:nvSpPr>
          <p:cNvPr id="100040" name="TextBox 2"/>
          <p:cNvSpPr/>
          <p:nvPr/>
        </p:nvSpPr>
        <p:spPr>
          <a:xfrm xmlns:a="http://schemas.openxmlformats.org/drawingml/2006/main">
            <a:off x="540000" y="1620000"/>
            <a:ext cx="3420000" cy="360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>
              <a:alpha val="8000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041" name="TextBox 3"/>
          <p:cNvSpPr/>
          <p:nvPr/>
        </p:nvSpPr>
        <p:spPr>
          <a:xfrm xmlns:a="http://schemas.openxmlformats.org/drawingml/2006/main">
            <a:off x="900000" y="1980000"/>
            <a:ext cx="2700000" cy="54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200" b="1">
                <a:solidFill>
                  <a:srgbClr val="00FF87"/>
                </a:solidFill>
                <a:latin typeface="Georgia"/>
                <a:ea typeface="Georgia"/>
              </a:rPr>
              <a:t>v1: CKB Escrow</a:t>
            </a:r>
          </a:p>
        </p:txBody>
      </p:sp>
      <p:sp>
        <p:nvSpPr>
          <p:cNvPr id="100042" name="TextBox 4"/>
          <p:cNvSpPr/>
          <p:nvPr/>
        </p:nvSpPr>
        <p:spPr>
          <a:xfrm xmlns:a="http://schemas.openxmlformats.org/drawingml/2006/main">
            <a:off x="900000" y="2700000"/>
            <a:ext cx="2700000" cy="198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800">
                <a:solidFill>
                  <a:srgbClr val="CADCFC"/>
                </a:solidFill>
                <a:latin typeface="Calibri"/>
                <a:ea typeface="Calibri"/>
              </a:rPr>
              <a:t>Core platform featuring listings, custom escrow lock scripts, Toy Passport DOBs, user rating systems, and 3-price dynamic displays.</a:t>
            </a:r>
          </a:p>
        </p:txBody>
      </p:sp>
      <p:sp>
        <p:nvSpPr>
          <p:cNvPr id="100043" name="TextBox 5"/>
          <p:cNvSpPr/>
          <p:nvPr/>
        </p:nvSpPr>
        <p:spPr>
          <a:xfrm xmlns:a="http://schemas.openxmlformats.org/drawingml/2006/main">
            <a:off x="4320000" y="1620000"/>
            <a:ext cx="3420000" cy="360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>
              <a:alpha val="8000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044" name="TextBox 6"/>
          <p:cNvSpPr/>
          <p:nvPr/>
        </p:nvSpPr>
        <p:spPr>
          <a:xfrm xmlns:a="http://schemas.openxmlformats.org/drawingml/2006/main">
            <a:off x="4680000" y="1980000"/>
            <a:ext cx="2700000" cy="54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200" b="1">
                <a:solidFill>
                  <a:srgbClr val="CADCFC"/>
                </a:solidFill>
                <a:latin typeface="Georgia"/>
                <a:ea typeface="Georgia"/>
              </a:rPr>
              <a:t>v2: Fiber Network</a:t>
            </a:r>
          </a:p>
        </p:txBody>
      </p:sp>
      <p:sp>
        <p:nvSpPr>
          <p:cNvPr id="100045" name="TextBox 7"/>
          <p:cNvSpPr/>
          <p:nvPr/>
        </p:nvSpPr>
        <p:spPr>
          <a:xfrm xmlns:a="http://schemas.openxmlformats.org/drawingml/2006/main">
            <a:off x="4680000" y="2700000"/>
            <a:ext cx="2700000" cy="198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800">
                <a:solidFill>
                  <a:srgbClr val="8899BB"/>
                </a:solidFill>
                <a:latin typeface="Calibri"/>
                <a:ea typeface="Calibri"/>
              </a:rPr>
              <a:t>Integrating Fiber channels to enable instant payments, cheaper transactions, and high throughput trading pipelines.</a:t>
            </a:r>
          </a:p>
        </p:txBody>
      </p:sp>
      <p:sp>
        <p:nvSpPr>
          <p:cNvPr id="100046" name="TextBox 8"/>
          <p:cNvSpPr/>
          <p:nvPr/>
        </p:nvSpPr>
        <p:spPr>
          <a:xfrm xmlns:a="http://schemas.openxmlformats.org/drawingml/2006/main">
            <a:off x="8100000" y="1620000"/>
            <a:ext cx="3420000" cy="360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>
              <a:alpha val="8000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047" name="TextBox 9"/>
          <p:cNvSpPr/>
          <p:nvPr/>
        </p:nvSpPr>
        <p:spPr>
          <a:xfrm xmlns:a="http://schemas.openxmlformats.org/drawingml/2006/main">
            <a:off x="8460000" y="1980000"/>
            <a:ext cx="2700000" cy="54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200" b="1">
                <a:solidFill>
                  <a:srgbClr val="CADCFC"/>
                </a:solidFill>
                <a:latin typeface="Georgia"/>
                <a:ea typeface="Georgia"/>
              </a:rPr>
              <a:t>v3: Bitcoin Swaps</a:t>
            </a:r>
          </a:p>
        </p:txBody>
      </p:sp>
      <p:sp>
        <p:nvSpPr>
          <p:cNvPr id="100048" name="TextBox 10"/>
          <p:cNvSpPr/>
          <p:nvPr/>
        </p:nvSpPr>
        <p:spPr>
          <a:xfrm xmlns:a="http://schemas.openxmlformats.org/drawingml/2006/main">
            <a:off x="8460000" y="2700000"/>
            <a:ext cx="2700000" cy="198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800">
                <a:solidFill>
                  <a:srgbClr val="8899BB"/>
                </a:solidFill>
                <a:latin typeface="Calibri"/>
                <a:ea typeface="Calibri"/>
              </a:rPr>
              <a:t>Leveraging cross-chain hubs to support native Bitcoin settlements as alternative trade settlement options.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>
          <a:solidFill>
            <a:schemeClr val="phClr"/>
          </a:solidFill>
        </a:ln>
        <a:ln w="12700" cap="flat">
          <a:solidFill>
            <a:schemeClr val="phClr"/>
          </a:solidFill>
        </a:ln>
        <a:ln w="19050" cap="flat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ap:Properties xmlns:ap="http://schemas.openxmlformats.org/officeDocument/2006/extended-properties">
  <ap:Application>OfficeCLI/1.0.143</ap:Application>
</ap: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creator>OfficeCLI</dc:creator>
  <dcterms:created xsi:type="dcterms:W3CDTF">2026-08-09T14:22:58Z</dcterms:created>
  <cp:lastModifiedBy>OfficeCLI</cp:lastModifiedBy>
  <dcterms:modified xsi:type="dcterms:W3CDTF">2026-08-09T14:22:58Z</dcterms:modified>
</cp:coreProperties>
</file>

<file path=docProps/custom.xml><?xml version="1.0" encoding="utf-8"?>
<op:Properties xmlns:op="http://schemas.openxmlformats.org/officeDocument/2006/custom-properties">
  <op:property fmtid="{D5CDD505-2E9C-101B-9397-08002B2CF9AE}" pid="2" name="OfficeCLI.Version">
    <vt:lpwstr xmlns:vt="http://schemas.openxmlformats.org/officeDocument/2006/docPropsVTypes">1.0.143</vt:lpwstr>
  </op:property>
  <op:property fmtid="{D5CDD505-2E9C-101B-9397-08002B2CF9AE}" pid="3" name="OfficeCLI.LastModified">
    <vt:lpwstr xmlns:vt="http://schemas.openxmlformats.org/officeDocument/2006/docPropsVTypes">2026-08-09T14:23:11Z</vt:lpwstr>
  </op:property>
</op:Properties>
</file>