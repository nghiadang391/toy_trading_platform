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f3deaeeedf846b6" /><Relationship Type="http://schemas.openxmlformats.org/package/2006/relationships/metadata/core-properties" Target="/docProps/core.xml" Id="R08299d89b3194f59" /><Relationship Type="http://schemas.openxmlformats.org/officeDocument/2006/relationships/extended-properties" Target="/docProps/app.xml" Id="R89c01fd2b4f64589" /><Relationship Type="http://schemas.openxmlformats.org/officeDocument/2006/relationships/custom-properties" Target="/docProps/custom.xml" Id="R3dc3eb2d0f32475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647ab6eee8344e3"/>
  </p:notesMasterIdLst>
  <p:sldIdLst>
    <p:sldId id="256" r:id="Rad75c695395b45f0"/>
    <p:sldId id="257" r:id="Rad56c109361740d5"/>
    <p:sldId id="258" r:id="Rf98f480d8ad2493f"/>
    <p:sldId id="259" r:id="Rb70595fbfa164bad"/>
    <p:sldId id="260" r:id="Rd0f7b02584be4ce7"/>
    <p:sldId id="261" r:id="R6e91af78749e414c"/>
    <p:sldId id="262" r:id="Rb9af7a9d63804b9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d75c695395b45f0" /><Relationship Type="http://schemas.openxmlformats.org/officeDocument/2006/relationships/slide" Target="/ppt/slides/slide2.xml" Id="Rad56c109361740d5" /><Relationship Type="http://schemas.openxmlformats.org/officeDocument/2006/relationships/slide" Target="/ppt/slides/slide3.xml" Id="Rf98f480d8ad2493f" /><Relationship Type="http://schemas.openxmlformats.org/officeDocument/2006/relationships/slide" Target="/ppt/slides/slide4.xml" Id="Rb70595fbfa164bad" /><Relationship Type="http://schemas.openxmlformats.org/officeDocument/2006/relationships/slide" Target="/ppt/slides/slide5.xml" Id="Rd0f7b02584be4ce7" /><Relationship Type="http://schemas.openxmlformats.org/officeDocument/2006/relationships/slide" Target="/ppt/slides/slide6.xml" Id="R6e91af78749e414c" /><Relationship Type="http://schemas.openxmlformats.org/officeDocument/2006/relationships/slide" Target="/ppt/slides/slide7.xml" Id="Rb9af7a9d63804b9c" /><Relationship Type="http://schemas.openxmlformats.org/officeDocument/2006/relationships/notesMaster" Target="/ppt/notesMasters/notesMaster1.xml" Id="R8647ab6eee8344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5495fe6c98845b9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780d5b333304d63" /><Relationship Type="http://schemas.openxmlformats.org/officeDocument/2006/relationships/slide" Target="/ppt/slides/slide1.xml" Id="R0af1570279834a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e5093631c1849d0" /><Relationship Type="http://schemas.openxmlformats.org/officeDocument/2006/relationships/slide" Target="/ppt/slides/slide2.xml" Id="Rdc1db0c3e5ae44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2ce2aa48cbb4a28" /><Relationship Type="http://schemas.openxmlformats.org/officeDocument/2006/relationships/slide" Target="/ppt/slides/slide3.xml" Id="Rc6330aefc48f49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127f65117d947b7" /><Relationship Type="http://schemas.openxmlformats.org/officeDocument/2006/relationships/slide" Target="/ppt/slides/slide4.xml" Id="Rec21262c65c448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7d89a893d544a0" /><Relationship Type="http://schemas.openxmlformats.org/officeDocument/2006/relationships/slide" Target="/ppt/slides/slide5.xml" Id="Red989a4569e14a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1bc7ebfaaf94ca7" /><Relationship Type="http://schemas.openxmlformats.org/officeDocument/2006/relationships/slide" Target="/ppt/slides/slide6.xml" Id="R3ade9e016cb240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a42950293f04e9f" /><Relationship Type="http://schemas.openxmlformats.org/officeDocument/2006/relationships/slide" Target="/ppt/slides/slide7.xml" Id="R84a50585870b49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Introduce ToyTrade as the blockchain solution to kids' toy waste. Highlight that it is a direct trade ecosystem settled securely on CKB.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the core friction: kids outgrow toys but parents face high costs and lack local trust. Show how CKB solves this with lock scripts, DOBs, and JoyID.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specifically how CKB protects BOTH sides: the Buyer is protected by cell escrow locks, inspection rights, and 7-day refund timers; the Seller is protected by guaranteed solvency, non-repudiation (no chargebacks), and instant QR payouts.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Detail the 3-price display system: seller's choice, automated visual Google Lens matches to protect against overpricing, and live CKB conversion.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through the step-by-step transaction lifecycle: lock, deliver, confirm release, and the final timeout safety refund safeguard.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the cryptographic authentication layer using CCC and JoyID passkeys, along with Rust smart contract escrow and Spore DOB permanence.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Outline our evolutionary roadmap from core v1 CKB escrow to instant Fiber payments with L1 fallback and cross-chain Bitcoin support.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625b3df0d41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31e5f8b754a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544137e0f4b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8632ba98b440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ccf7094c2a463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b6add07e605455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dcd9741fb418a" /><Relationship Type="http://schemas.openxmlformats.org/officeDocument/2006/relationships/notesSlide" Target="/ppt/notesSlides/notesSlide1.xml" Id="R8e75fd0218834c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195167a03451a" /><Relationship Type="http://schemas.openxmlformats.org/officeDocument/2006/relationships/notesSlide" Target="/ppt/notesSlides/notesSlide2.xml" Id="Rc855391b208f4b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43deb3d2d4103" /><Relationship Type="http://schemas.openxmlformats.org/officeDocument/2006/relationships/notesSlide" Target="/ppt/notesSlides/notesSlide3.xml" Id="R10d4fc9a000242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17ebdff054f38" /><Relationship Type="http://schemas.openxmlformats.org/officeDocument/2006/relationships/notesSlide" Target="/ppt/notesSlides/notesSlide4.xml" Id="Rebba49e445c945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bcc95efea451d" /><Relationship Type="http://schemas.openxmlformats.org/officeDocument/2006/relationships/notesSlide" Target="/ppt/notesSlides/notesSlide5.xml" Id="Rc29feca4203047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9e87044d44fb1" /><Relationship Type="http://schemas.openxmlformats.org/officeDocument/2006/relationships/notesSlide" Target="/ppt/notesSlides/notesSlide6.xml" Id="R623952849a754d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ad501b02b4d2b" /><Relationship Type="http://schemas.openxmlformats.org/officeDocument/2006/relationships/notesSlide" Target="/ppt/notesSlides/notesSlide7.xml" Id="R4e4b89e0b51d4d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720000" y="1152000"/>
            <a:ext cx="10753200" cy="13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6400" b="1">
                <a:solidFill>
                  <a:srgbClr val="FFFFFF"/>
                </a:solidFill>
                <a:latin typeface="Inter"/>
                <a:ea typeface="Inter"/>
              </a:rPr>
              <a:t>ToyTrade</a:t>
            </a:r>
          </a:p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756000" y="2664000"/>
            <a:ext cx="10753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60EFFF"/>
                </a:solidFill>
                <a:latin typeface="Segoe"/>
                <a:ea typeface="Segoe"/>
              </a:rPr>
              <a:t>Secure, Provenance-Tracked Kids' Toy Exchange on Nervos CKB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756000" y="3672000"/>
            <a:ext cx="5580000" cy="7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900000" y="3816000"/>
            <a:ext cx="522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00FF87"/>
                </a:solidFill>
                <a:latin typeface="Segoe"/>
                <a:ea typeface="Segoe"/>
              </a:rPr>
              <a:t>Protected by CKB Dual-Lock Escrow &amp; Fiber Network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756000" y="5220000"/>
            <a:ext cx="72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94A3B8"/>
                </a:solidFill>
                <a:latin typeface="Segoe"/>
                <a:ea typeface="Segoe"/>
              </a:rPr>
              <a:t>A Blockchain-Powered Sustainable Alternative to Buying New</a:t>
            </a:r>
          </a:p>
          <a:p xmlns:a="http://schemas.openxmlformats.org/drawingml/2006/main">
            <a:r>
              <a:rPr lang="en-US" sz="1400">
                <a:solidFill>
                  <a:srgbClr val="94A3B8"/>
                </a:solidFill>
                <a:latin typeface="Segoe"/>
                <a:ea typeface="Segoe"/>
              </a:rPr>
              <a:t>August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Inter"/>
                <a:ea typeface="Inter"/>
              </a:rPr>
              <a:t>Why Parents Need ToyTrade</a:t>
            </a:r>
          </a:p>
        </p:txBody>
      </p:sp>
      <p:sp>
        <p:nvSpPr>
          <p:cNvPr id="100006" name="TextBox 2"/>
          <p:cNvSpPr/>
          <p:nvPr/>
        </p:nvSpPr>
        <p:spPr>
          <a:xfrm xmlns:a="http://schemas.openxmlformats.org/drawingml/2006/main">
            <a:off x="54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332024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7" name="TextBox 3"/>
          <p:cNvSpPr/>
          <p:nvPr/>
        </p:nvSpPr>
        <p:spPr>
          <a:xfrm xmlns:a="http://schemas.openxmlformats.org/drawingml/2006/main">
            <a:off x="900000" y="1620000"/>
            <a:ext cx="45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FF4757"/>
                </a:solidFill>
                <a:latin typeface="Inter"/>
                <a:ea typeface="Inter"/>
              </a:rPr>
              <a:t>The Problem in Second-Hand Trading</a:t>
            </a:r>
          </a:p>
        </p:txBody>
      </p:sp>
      <p:sp>
        <p:nvSpPr>
          <p:cNvPr id="100008" name="TextBox 4"/>
          <p:cNvSpPr/>
          <p:nvPr/>
        </p:nvSpPr>
        <p:spPr>
          <a:xfrm xmlns:a="http://schemas.openxmlformats.org/drawingml/2006/main">
            <a:off x="900000" y="2268000"/>
            <a:ext cx="4500000" cy="31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Rapid Outgrowth: Kids outgrow toys quickly, causing recurring financial waste for families.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High Counterfeit &amp; Broken Toy Risk: Used marketplaces lack verifiable condition history and safety recall audits.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Zero Transactional Trust: Meetups and peer payments suffer from fake bank slips, ghosting, and payment disputes.</a:t>
            </a:r>
          </a:p>
        </p:txBody>
      </p:sp>
      <p:sp>
        <p:nvSpPr>
          <p:cNvPr id="100009" name="TextBox 5"/>
          <p:cNvSpPr/>
          <p:nvPr/>
        </p:nvSpPr>
        <p:spPr>
          <a:xfrm xmlns:a="http://schemas.openxmlformats.org/drawingml/2006/main">
            <a:off x="6300000" y="1260000"/>
            <a:ext cx="52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6"/>
          <p:cNvSpPr/>
          <p:nvPr/>
        </p:nvSpPr>
        <p:spPr>
          <a:xfrm xmlns:a="http://schemas.openxmlformats.org/drawingml/2006/main">
            <a:off x="6660000" y="1620000"/>
            <a:ext cx="45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Inter"/>
                <a:ea typeface="Inter"/>
              </a:rPr>
              <a:t>The CKB Architecture Solution</a:t>
            </a:r>
          </a:p>
        </p:txBody>
      </p:sp>
      <p:sp>
        <p:nvSpPr>
          <p:cNvPr id="100011" name="TextBox 7"/>
          <p:cNvSpPr/>
          <p:nvPr/>
        </p:nvSpPr>
        <p:spPr>
          <a:xfrm xmlns:a="http://schemas.openxmlformats.org/drawingml/2006/main">
            <a:off x="6660000" y="2268000"/>
            <a:ext cx="4500000" cy="316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Dual-Lock Cell Escrow: CKB smart contracts hold settlement funds trustlessly until both parties confirm delivery.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Spore DOB Toy Passport: On-chain digital object tracks toy condition history, owner reviews, and provenance.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• JoyID Passkey Biometrics: Parents login and sign with device fingerprint/FaceID without seed phrase friction.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/>
          <p:nvPr/>
        </p:nvSpPr>
        <p:spPr>
          <a:xfrm xmlns:a="http://schemas.openxmlformats.org/drawingml/2006/main">
            <a:off x="540000" y="360000"/>
            <a:ext cx="111132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Inter"/>
                <a:ea typeface="Inter"/>
              </a:rPr>
              <a:t>How CKB Protects Both Buyer and Seller</a:t>
            </a:r>
          </a:p>
        </p:txBody>
      </p:sp>
      <p:sp>
        <p:nvSpPr>
          <p:cNvPr id="100013" name="TextBox 2"/>
          <p:cNvSpPr/>
          <p:nvPr/>
        </p:nvSpPr>
        <p:spPr>
          <a:xfrm xmlns:a="http://schemas.openxmlformats.org/drawingml/2006/main">
            <a:off x="540000" y="1008000"/>
            <a:ext cx="5220000" cy="53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TextBox 3"/>
          <p:cNvSpPr/>
          <p:nvPr/>
        </p:nvSpPr>
        <p:spPr>
          <a:xfrm xmlns:a="http://schemas.openxmlformats.org/drawingml/2006/main">
            <a:off x="792000" y="1224000"/>
            <a:ext cx="471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TextBox 4"/>
          <p:cNvSpPr/>
          <p:nvPr/>
        </p:nvSpPr>
        <p:spPr>
          <a:xfrm xmlns:a="http://schemas.openxmlformats.org/drawingml/2006/main">
            <a:off x="900000" y="1278000"/>
            <a:ext cx="45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A0A0A"/>
                </a:solidFill>
                <a:latin typeface="Inter"/>
                <a:ea typeface="Inter"/>
              </a:rPr>
              <a:t>How CKB Protects the BUYER</a:t>
            </a:r>
          </a:p>
        </p:txBody>
      </p:sp>
      <p:sp>
        <p:nvSpPr>
          <p:cNvPr id="100016" name="TextBox 5"/>
          <p:cNvSpPr/>
          <p:nvPr/>
        </p:nvSpPr>
        <p:spPr>
          <a:xfrm xmlns:a="http://schemas.openxmlformats.org/drawingml/2006/main">
            <a:off x="828000" y="1728000"/>
            <a:ext cx="4644000" cy="43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1. Funds Locked in Smart Contract: Money stays safely in the CKB Escrow Cell until the buyer confirms physical handover.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2. In-Person Inspection First: Buyer inspects the physical toy at meetup before scanning the QR code to release payment.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3. 7-Day Auto-Timeout Refund: If the seller ghosts or fails to deliver, buyer independently reclaims 100% of their locked CKB.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4. Verified Spore DOB Passport: Guarantees authentic ownership history and past parent rating scores.</a:t>
            </a:r>
          </a:p>
        </p:txBody>
      </p:sp>
      <p:sp>
        <p:nvSpPr>
          <p:cNvPr id="100017" name="TextBox 6"/>
          <p:cNvSpPr/>
          <p:nvPr/>
        </p:nvSpPr>
        <p:spPr>
          <a:xfrm xmlns:a="http://schemas.openxmlformats.org/drawingml/2006/main">
            <a:off x="6300000" y="1008000"/>
            <a:ext cx="5220000" cy="53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60E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7"/>
          <p:cNvSpPr/>
          <p:nvPr/>
        </p:nvSpPr>
        <p:spPr>
          <a:xfrm xmlns:a="http://schemas.openxmlformats.org/drawingml/2006/main">
            <a:off x="6552000" y="1224000"/>
            <a:ext cx="471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0E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TextBox 8"/>
          <p:cNvSpPr/>
          <p:nvPr/>
        </p:nvSpPr>
        <p:spPr>
          <a:xfrm xmlns:a="http://schemas.openxmlformats.org/drawingml/2006/main">
            <a:off x="6660000" y="1278000"/>
            <a:ext cx="45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A0A0A"/>
                </a:solidFill>
                <a:latin typeface="Inter"/>
                <a:ea typeface="Inter"/>
              </a:rPr>
              <a:t>How CKB Protects the SELLER</a:t>
            </a:r>
          </a:p>
        </p:txBody>
      </p:sp>
      <p:sp>
        <p:nvSpPr>
          <p:cNvPr id="100020" name="TextBox 9"/>
          <p:cNvSpPr/>
          <p:nvPr/>
        </p:nvSpPr>
        <p:spPr>
          <a:xfrm xmlns:a="http://schemas.openxmlformats.org/drawingml/2006/main">
            <a:off x="6588000" y="1728000"/>
            <a:ext cx="4644000" cy="43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1. Guaranteed Solvency Before Meetup: Seller only travels after CKB deposit is verified on-chain. Zero fake payment slips.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2. Zero Chargeback Scams (Non-Repudiation): Once settled via Fiber preimage or dual-sign, payment is final and irreversible.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3. Instant Handover Settlement: QR scan triggers sub-second release of funds directly to the seller's JoyID wallet.</a:t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350">
                <a:solidFill>
                  <a:srgbClr val="E2E8F0"/>
                </a:solidFill>
                <a:latin typeface="Segoe"/>
                <a:ea typeface="Segoe"/>
              </a:rPr>
              <a:t>4. Immutable Seller Reputation: Completed trades record permanent on-chain ratings that protect honest sellers.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Inter"/>
                <a:ea typeface="Inter"/>
              </a:rPr>
              <a:t>Three-Price Market Integrity</a:t>
            </a:r>
          </a:p>
        </p:txBody>
      </p:sp>
      <p:sp>
        <p:nvSpPr>
          <p:cNvPr id="100022" name="TextBox 2"/>
          <p:cNvSpPr/>
          <p:nvPr/>
        </p:nvSpPr>
        <p:spPr>
          <a:xfrm xmlns:a="http://schemas.openxmlformats.org/drawingml/2006/main">
            <a:off x="54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222D3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60EFFF"/>
                </a:solidFill>
                <a:latin typeface="Inter"/>
                <a:ea typeface="Inter"/>
              </a:rPr>
              <a:t>① Seller's Price</a:t>
            </a:r>
          </a:p>
        </p:txBody>
      </p:sp>
      <p:sp>
        <p:nvSpPr>
          <p:cNvPr id="100024" name="TextBox 4"/>
          <p:cNvSpPr/>
          <p:nvPr/>
        </p:nvSpPr>
        <p:spPr>
          <a:xfrm xmlns:a="http://schemas.openxmlformats.org/drawingml/2006/main">
            <a:off x="90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Set directly by parents in their local currency (£ GBP / ₫ VND).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Maintains a familiar, friendly fiat shopping experience for non-crypto parents.</a:t>
            </a:r>
          </a:p>
        </p:txBody>
      </p:sp>
      <p:sp>
        <p:nvSpPr>
          <p:cNvPr id="100025" name="TextBox 5"/>
          <p:cNvSpPr/>
          <p:nvPr/>
        </p:nvSpPr>
        <p:spPr>
          <a:xfrm xmlns:a="http://schemas.openxmlformats.org/drawingml/2006/main">
            <a:off x="432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222D3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6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FFC107"/>
                </a:solidFill>
                <a:latin typeface="Inter"/>
                <a:ea typeface="Inter"/>
              </a:rPr>
              <a:t>② Market Reference</a:t>
            </a:r>
          </a:p>
        </p:txBody>
      </p:sp>
      <p:sp>
        <p:nvSpPr>
          <p:cNvPr id="100027" name="TextBox 7"/>
          <p:cNvSpPr/>
          <p:nvPr/>
        </p:nvSpPr>
        <p:spPr>
          <a:xfrm xmlns:a="http://schemas.openxmlformats.org/drawingml/2006/main">
            <a:off x="468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Retrieved automatically via Google Lens visual shopping matches.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Protects buyers against overpriced listings and helps sellers price fairly.</a:t>
            </a:r>
          </a:p>
        </p:txBody>
      </p:sp>
      <p:sp>
        <p:nvSpPr>
          <p:cNvPr id="100028" name="TextBox 8"/>
          <p:cNvSpPr/>
          <p:nvPr/>
        </p:nvSpPr>
        <p:spPr>
          <a:xfrm xmlns:a="http://schemas.openxmlformats.org/drawingml/2006/main">
            <a:off x="810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9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Inter"/>
                <a:ea typeface="Inter"/>
              </a:rPr>
              <a:t>③ CKB Equivalent</a:t>
            </a:r>
          </a:p>
        </p:txBody>
      </p:sp>
      <p:sp>
        <p:nvSpPr>
          <p:cNvPr id="100030" name="TextBox 10"/>
          <p:cNvSpPr/>
          <p:nvPr/>
        </p:nvSpPr>
        <p:spPr>
          <a:xfrm xmlns:a="http://schemas.openxmlformats.org/drawingml/2006/main">
            <a:off x="8460000" y="2700000"/>
            <a:ext cx="270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Converted in real-time from live CoinGecko price feeds.</a:t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Locked at trade initiation for on-chain escrow or Fiber invoice settlement.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Inter"/>
                <a:ea typeface="Inter"/>
              </a:rPr>
              <a:t>End-to-End Trade Settlement Lifecycle</a:t>
            </a:r>
          </a:p>
        </p:txBody>
      </p:sp>
      <p:sp>
        <p:nvSpPr>
          <p:cNvPr id="100032" name="TextBox 2"/>
          <p:cNvSpPr/>
          <p:nvPr/>
        </p:nvSpPr>
        <p:spPr>
          <a:xfrm xmlns:a="http://schemas.openxmlformats.org/drawingml/2006/main">
            <a:off x="540000" y="1440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A0A0A"/>
                </a:solidFill>
                <a:latin typeface="Inter"/>
                <a:ea typeface="Inter"/>
              </a:rPr>
              <a:t>1. Lock Escrow</a:t>
            </a:r>
          </a:p>
        </p:txBody>
      </p:sp>
      <p:sp>
        <p:nvSpPr>
          <p:cNvPr id="100033" name="TextBox 3"/>
          <p:cNvSpPr/>
          <p:nvPr/>
        </p:nvSpPr>
        <p:spPr>
          <a:xfrm xmlns:a="http://schemas.openxmlformats.org/drawingml/2006/main">
            <a:off x="2700000" y="1440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Buyer funds the trade; CKB is locked inside the 2-of-2 Escrow Lock Cell on Layer 1.</a:t>
            </a:r>
          </a:p>
        </p:txBody>
      </p:sp>
      <p:sp>
        <p:nvSpPr>
          <p:cNvPr id="100034" name="TextBox 4"/>
          <p:cNvSpPr/>
          <p:nvPr/>
        </p:nvSpPr>
        <p:spPr>
          <a:xfrm xmlns:a="http://schemas.openxmlformats.org/drawingml/2006/main">
            <a:off x="540000" y="2448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E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A0A0A"/>
                </a:solidFill>
                <a:latin typeface="Inter"/>
                <a:ea typeface="Inter"/>
              </a:rPr>
              <a:t>2. Meetup / Ship</a:t>
            </a:r>
          </a:p>
        </p:txBody>
      </p:sp>
      <p:sp>
        <p:nvSpPr>
          <p:cNvPr id="100035" name="TextBox 5"/>
          <p:cNvSpPr/>
          <p:nvPr/>
        </p:nvSpPr>
        <p:spPr>
          <a:xfrm xmlns:a="http://schemas.openxmlformats.org/drawingml/2006/main">
            <a:off x="2700000" y="2448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Seller hands over physical toy at local meetup or dispatches tracked shipping package.</a:t>
            </a:r>
          </a:p>
        </p:txBody>
      </p:sp>
      <p:sp>
        <p:nvSpPr>
          <p:cNvPr id="100036" name="TextBox 6"/>
          <p:cNvSpPr/>
          <p:nvPr/>
        </p:nvSpPr>
        <p:spPr>
          <a:xfrm xmlns:a="http://schemas.openxmlformats.org/drawingml/2006/main">
            <a:off x="540000" y="3456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A0A0A"/>
                </a:solidFill>
                <a:latin typeface="Inter"/>
                <a:ea typeface="Inter"/>
              </a:rPr>
              <a:t>3. Dual Release</a:t>
            </a:r>
          </a:p>
        </p:txBody>
      </p:sp>
      <p:sp>
        <p:nvSpPr>
          <p:cNvPr id="100037" name="TextBox 7"/>
          <p:cNvSpPr/>
          <p:nvPr/>
        </p:nvSpPr>
        <p:spPr>
          <a:xfrm xmlns:a="http://schemas.openxmlformats.org/drawingml/2006/main">
            <a:off x="2700000" y="3456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Buyer scans seller's QR code (or confirms online); CKB releases to seller &amp; Spore DOB transfers to buyer.</a:t>
            </a:r>
          </a:p>
        </p:txBody>
      </p:sp>
      <p:sp>
        <p:nvSpPr>
          <p:cNvPr id="100038" name="TextBox 8"/>
          <p:cNvSpPr/>
          <p:nvPr/>
        </p:nvSpPr>
        <p:spPr>
          <a:xfrm xmlns:a="http://schemas.openxmlformats.org/drawingml/2006/main">
            <a:off x="540000" y="4464000"/>
            <a:ext cx="1980000" cy="5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75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Inter"/>
                <a:ea typeface="Inter"/>
              </a:rPr>
              <a:t>Safeguard</a:t>
            </a:r>
          </a:p>
        </p:txBody>
      </p:sp>
      <p:sp>
        <p:nvSpPr>
          <p:cNvPr id="100039" name="TextBox 9"/>
          <p:cNvSpPr/>
          <p:nvPr/>
        </p:nvSpPr>
        <p:spPr>
          <a:xfrm xmlns:a="http://schemas.openxmlformats.org/drawingml/2006/main">
            <a:off x="2700000" y="4464000"/>
            <a:ext cx="86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7-day timelock allows buyer to reclaim 100% of locked funds if seller fails to deliver.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4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Inter"/>
                <a:ea typeface="Inter"/>
              </a:rPr>
              <a:t>Security Architecture &amp; Cryptographic Auth</a:t>
            </a:r>
          </a:p>
        </p:txBody>
      </p:sp>
      <p:sp>
        <p:nvSpPr>
          <p:cNvPr id="100041" name="TextBox 2"/>
          <p:cNvSpPr/>
          <p:nvPr/>
        </p:nvSpPr>
        <p:spPr>
          <a:xfrm xmlns:a="http://schemas.openxmlformats.org/drawingml/2006/main">
            <a:off x="54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2" name="TextBox 3"/>
          <p:cNvSpPr/>
          <p:nvPr/>
        </p:nvSpPr>
        <p:spPr>
          <a:xfrm xmlns:a="http://schemas.openxmlformats.org/drawingml/2006/main">
            <a:off x="79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0FF87"/>
                </a:solidFill>
                <a:latin typeface="Inter"/>
                <a:ea typeface="Inter"/>
              </a:rPr>
              <a:t>1. JoyID &amp; CCC Auth</a:t>
            </a:r>
          </a:p>
        </p:txBody>
      </p:sp>
      <p:sp>
        <p:nvSpPr>
          <p:cNvPr id="100043" name="TextBox 4"/>
          <p:cNvSpPr/>
          <p:nvPr/>
        </p:nvSpPr>
        <p:spPr>
          <a:xfrm xmlns:a="http://schemas.openxmlformats.org/drawingml/2006/main">
            <a:off x="79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Uses CKB Common Chain Connector (CCC) SDK.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Verifies WebAuthn passkey signatures on backend before accepting listings or chat messages.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Zero identity spoofing or unauthorized trade modifications.</a:t>
            </a:r>
          </a:p>
        </p:txBody>
      </p:sp>
      <p:sp>
        <p:nvSpPr>
          <p:cNvPr id="100044" name="TextBox 5"/>
          <p:cNvSpPr/>
          <p:nvPr/>
        </p:nvSpPr>
        <p:spPr>
          <a:xfrm xmlns:a="http://schemas.openxmlformats.org/drawingml/2006/main">
            <a:off x="432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60E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5" name="TextBox 6"/>
          <p:cNvSpPr/>
          <p:nvPr/>
        </p:nvSpPr>
        <p:spPr>
          <a:xfrm xmlns:a="http://schemas.openxmlformats.org/drawingml/2006/main">
            <a:off x="457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60EFFF"/>
                </a:solidFill>
                <a:latin typeface="Inter"/>
                <a:ea typeface="Inter"/>
              </a:rPr>
              <a:t>2. Smart Escrow</a:t>
            </a:r>
          </a:p>
        </p:txBody>
      </p:sp>
      <p:sp>
        <p:nvSpPr>
          <p:cNvPr id="100046" name="TextBox 7"/>
          <p:cNvSpPr/>
          <p:nvPr/>
        </p:nvSpPr>
        <p:spPr>
          <a:xfrm xmlns:a="http://schemas.openxmlformats.org/drawingml/2006/main">
            <a:off x="457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Custom Rust CKB lock script.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Requires cryptographic confirmation from both buyer and seller to unlock settlement cell.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Enforces absolute solvency on every active trade.</a:t>
            </a:r>
          </a:p>
        </p:txBody>
      </p:sp>
      <p:sp>
        <p:nvSpPr>
          <p:cNvPr id="100047" name="TextBox 8"/>
          <p:cNvSpPr/>
          <p:nvPr/>
        </p:nvSpPr>
        <p:spPr>
          <a:xfrm xmlns:a="http://schemas.openxmlformats.org/drawingml/2006/main">
            <a:off x="8100000" y="1260000"/>
            <a:ext cx="3420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TextBox 9"/>
          <p:cNvSpPr/>
          <p:nvPr/>
        </p:nvSpPr>
        <p:spPr>
          <a:xfrm xmlns:a="http://schemas.openxmlformats.org/drawingml/2006/main">
            <a:off x="8352000" y="1512000"/>
            <a:ext cx="2916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0FF87"/>
                </a:solidFill>
                <a:latin typeface="Inter"/>
                <a:ea typeface="Inter"/>
              </a:rPr>
              <a:t>3. Toy Passport DOB</a:t>
            </a:r>
          </a:p>
        </p:txBody>
      </p:sp>
      <p:sp>
        <p:nvSpPr>
          <p:cNvPr id="100049" name="TextBox 10"/>
          <p:cNvSpPr/>
          <p:nvPr/>
        </p:nvSpPr>
        <p:spPr>
          <a:xfrm xmlns:a="http://schemas.openxmlformats.org/drawingml/2006/main">
            <a:off x="8352000" y="2160000"/>
            <a:ext cx="2916000" cy="36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Backed by genuine CKB cell capacity.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Holds immutable ownership timeline and parent reviews.</a:t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/>
            </a:r>
          </a:p>
          <a:p xmlns:a="http://schemas.openxmlformats.org/drawingml/2006/main">
            <a:r>
              <a:rPr lang="en-US" sz="1500">
                <a:solidFill>
                  <a:srgbClr val="E2E8F0"/>
                </a:solidFill>
                <a:latin typeface="Segoe"/>
                <a:ea typeface="Segoe"/>
              </a:rPr>
              <a:t>• Can never be deleted, forged, or stolen off-chain.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12"/>
        </a:solidFill>
      </p:bgPr>
    </p:bg>
    <p:spTree>
      <p:nvGrpSpPr>
        <p:cNvPr id="1" name=""/>
        <p:cNvGrpSpPr/>
        <p:nvPr/>
      </p:nvGrpSpPr>
      <p:grpSpPr/>
      <p:sp>
        <p:nvSpPr>
          <p:cNvPr id="100050" name="TextBox 1"/>
          <p:cNvSpPr/>
          <p:nvPr/>
        </p:nvSpPr>
        <p:spPr>
          <a:xfrm xmlns:a="http://schemas.openxmlformats.org/drawingml/2006/main">
            <a:off x="540000" y="457200"/>
            <a:ext cx="111132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Inter"/>
                <a:ea typeface="Inter"/>
              </a:rPr>
              <a:t>ToyTrade Evolutionary Roadmap</a:t>
            </a:r>
          </a:p>
        </p:txBody>
      </p:sp>
      <p:sp>
        <p:nvSpPr>
          <p:cNvPr id="100051" name="TextBox 2"/>
          <p:cNvSpPr/>
          <p:nvPr/>
        </p:nvSpPr>
        <p:spPr>
          <a:xfrm xmlns:a="http://schemas.openxmlformats.org/drawingml/2006/main">
            <a:off x="54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TextBox 3"/>
          <p:cNvSpPr/>
          <p:nvPr/>
        </p:nvSpPr>
        <p:spPr>
          <a:xfrm xmlns:a="http://schemas.openxmlformats.org/drawingml/2006/main">
            <a:off x="90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Inter"/>
                <a:ea typeface="Inter"/>
              </a:rPr>
              <a:t>v1: CKB Escrow</a:t>
            </a:r>
          </a:p>
        </p:txBody>
      </p:sp>
      <p:sp>
        <p:nvSpPr>
          <p:cNvPr id="100053" name="TextBox 4"/>
          <p:cNvSpPr/>
          <p:nvPr/>
        </p:nvSpPr>
        <p:spPr>
          <a:xfrm xmlns:a="http://schemas.openxmlformats.org/drawingml/2006/main">
            <a:off x="90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Core platform featuring listings, custom escrow lock scripts, Toy Passport DOBs, user rating systems, and 3-price dynamic displays.</a:t>
            </a:r>
          </a:p>
        </p:txBody>
      </p:sp>
      <p:sp>
        <p:nvSpPr>
          <p:cNvPr id="100054" name="TextBox 5"/>
          <p:cNvSpPr/>
          <p:nvPr/>
        </p:nvSpPr>
        <p:spPr>
          <a:xfrm xmlns:a="http://schemas.openxmlformats.org/drawingml/2006/main">
            <a:off x="432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60E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5" name="TextBox 6"/>
          <p:cNvSpPr/>
          <p:nvPr/>
        </p:nvSpPr>
        <p:spPr>
          <a:xfrm xmlns:a="http://schemas.openxmlformats.org/drawingml/2006/main">
            <a:off x="468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60EFFF"/>
                </a:solidFill>
                <a:latin typeface="Inter"/>
                <a:ea typeface="Inter"/>
              </a:rPr>
              <a:t>v2: Fiber Network</a:t>
            </a:r>
          </a:p>
        </p:txBody>
      </p:sp>
      <p:sp>
        <p:nvSpPr>
          <p:cNvPr id="100056" name="TextBox 7"/>
          <p:cNvSpPr/>
          <p:nvPr/>
        </p:nvSpPr>
        <p:spPr>
          <a:xfrm xmlns:a="http://schemas.openxmlformats.org/drawingml/2006/main">
            <a:off x="468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Default instant Fiber handover with automated Layer 1 Escrow fallback. Enables sub-second meetup settlement and micro-toy trades.</a:t>
            </a:r>
          </a:p>
        </p:txBody>
      </p:sp>
      <p:sp>
        <p:nvSpPr>
          <p:cNvPr id="100057" name="TextBox 8"/>
          <p:cNvSpPr/>
          <p:nvPr/>
        </p:nvSpPr>
        <p:spPr>
          <a:xfrm xmlns:a="http://schemas.openxmlformats.org/drawingml/2006/main">
            <a:off x="8100000" y="1620000"/>
            <a:ext cx="3420000" cy="37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1A20"/>
          </a:solidFill>
          <a:ln xmlns:a="http://schemas.openxmlformats.org/drawingml/2006/main">
            <a:solidFill>
              <a:srgbClr val="00FF8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TextBox 9"/>
          <p:cNvSpPr/>
          <p:nvPr/>
        </p:nvSpPr>
        <p:spPr>
          <a:xfrm xmlns:a="http://schemas.openxmlformats.org/drawingml/2006/main">
            <a:off x="8460000" y="1980000"/>
            <a:ext cx="27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 b="1">
                <a:solidFill>
                  <a:srgbClr val="00FF87"/>
                </a:solidFill>
                <a:latin typeface="Inter"/>
                <a:ea typeface="Inter"/>
              </a:rPr>
              <a:t>v3: Bitcoin Swaps</a:t>
            </a:r>
          </a:p>
        </p:txBody>
      </p:sp>
      <p:sp>
        <p:nvSpPr>
          <p:cNvPr id="100059" name="TextBox 10"/>
          <p:cNvSpPr/>
          <p:nvPr/>
        </p:nvSpPr>
        <p:spPr>
          <a:xfrm xmlns:a="http://schemas.openxmlformats.org/drawingml/2006/main">
            <a:off x="8460000" y="2700000"/>
            <a:ext cx="27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E2E8F0"/>
                </a:solidFill>
                <a:latin typeface="Segoe"/>
                <a:ea typeface="Segoe"/>
              </a:rPr>
              <a:t>Leveraging cross-chain hubs to support native Bitcoin settlements as alternative trade settlement options.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2026-08-15T05:37:39Z</dcterms:created>
  <cp:lastModifiedBy>OfficeCLI</cp:lastModifiedBy>
  <dcterms:modified xsi:type="dcterms:W3CDTF">2026-08-15T05:37:39Z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2026-08-15T05:37:55Z</vt:lpwstr>
  </op:property>
</op:Properties>
</file>