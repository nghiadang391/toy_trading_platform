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00FF87"/>
                </a:solidFill>
              </a:defRPr>
            </a:pPr>
            <a:r>
              <a:t>ToyTrade</a:t>
            </a:r>
          </a:p>
          <a:p>
            <a:pPr>
              <a:spcBef>
                <a:spcPts val="1200"/>
              </a:spcBef>
              <a:defRPr sz="2400" b="1">
                <a:solidFill>
                  <a:srgbClr val="FFFFFF"/>
                </a:solidFill>
              </a:defRPr>
            </a:pPr>
            <a:r>
              <a:t>The Trustless, Provenance-Tracked Used Toy Exchange on Nervos CKB</a:t>
            </a:r>
          </a:p>
          <a:p>
            <a:pPr>
              <a:spcBef>
                <a:spcPts val="800"/>
              </a:spcBef>
              <a:defRPr sz="1600">
                <a:solidFill>
                  <a:srgbClr val="60EFFF"/>
                </a:solidFill>
              </a:defRPr>
            </a:pPr>
            <a:r>
              <a:t>A zero-friction, blockchain-powered alternative to buying new for modern parents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389120"/>
            <a:ext cx="2377440" cy="822960"/>
          </a:xfrm>
          <a:prstGeom prst="roundRect">
            <a:avLst/>
          </a:prstGeom>
          <a:solidFill>
            <a:srgbClr val="172043"/>
          </a:solidFill>
          <a:ln w="19050"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🔑 0-Friction JoyID Passkeys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4389120"/>
            <a:ext cx="2377440" cy="822960"/>
          </a:xfrm>
          <a:prstGeom prst="roundRect">
            <a:avLst/>
          </a:prstGeom>
          <a:solidFill>
            <a:srgbClr val="172043"/>
          </a:solidFill>
          <a:ln w="19050"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📜 Spore DOB Passports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4389120"/>
            <a:ext cx="2377440" cy="822960"/>
          </a:xfrm>
          <a:prstGeom prst="roundRect">
            <a:avLst/>
          </a:prstGeom>
          <a:solidFill>
            <a:srgbClr val="172043"/>
          </a:solidFill>
          <a:ln w="19050"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🛡️ Safety Recall Check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4389120"/>
            <a:ext cx="2377440" cy="822960"/>
          </a:xfrm>
          <a:prstGeom prst="roundRect">
            <a:avLst/>
          </a:prstGeom>
          <a:solidFill>
            <a:srgbClr val="172043"/>
          </a:solidFill>
          <a:ln w="19050"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📱 QR Meetup Handover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Nervos CKB Hackathon Presentation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1128"/>
                </a:solidFill>
              </a:defRPr>
            </a:pPr>
            <a:r>
              <a:t>Why Parents Need ToyTrade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4937760" cy="4754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B91C1C"/>
                </a:solidFill>
              </a:defRPr>
            </a:pPr>
            <a:r>
              <a:t>❌ The Problem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High Expense: Kids outgrow toys rapidly, creating continuous financial pressure.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Lack of Local Trust: In-person park/coffee shop meetups lack escrow security.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Safety &amp; Recall Risks: Parents unknowingly trade toys recalled by safety agencies.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Overpricing Confusion: Sellers struggle to evaluate second-hand market value.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4937760" cy="4754880"/>
          </a:xfrm>
          <a:prstGeom prst="roundRect">
            <a:avLst/>
          </a:prstGeom>
          <a:solidFill>
            <a:srgbClr val="0A1128"/>
          </a:solidFill>
          <a:ln w="25400"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F87"/>
                </a:solidFill>
              </a:defRPr>
            </a:pPr>
            <a:r>
              <a:t>✅ The ToyTrade CKB Solution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• 2-of-2 CKB Smart Contract Escrow: Locks payments until delivery is verified.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• 📱 QR Meetup Handover: Instant 2-second dual confirmation at local meetups.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• 🛡️ Safety Recall Auto-Check: Queries CPSC &amp; EU databases live to block recalled toys.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• 📜 Spore DOB Toy Passport: On-chain provenance recording condition history.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• 🔑 JoyID Passkeys: Log in with FaceID/Fingerprint — 0 crypto friction for parents.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1128"/>
                </a:solidFill>
              </a:defRPr>
            </a:pPr>
            <a:r>
              <a:t>Three-Price Market Integrity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A1128"/>
                </a:solidFill>
              </a:defRPr>
            </a:pPr>
            <a:r>
              <a:t>① Seller's Price</a:t>
            </a:r>
          </a:p>
          <a:p>
            <a:pPr>
              <a:spcBef>
                <a:spcPts val="600"/>
              </a:spcBef>
              <a:defRPr sz="1300" b="1">
                <a:solidFill>
                  <a:srgbClr val="0EA5E9"/>
                </a:solidFill>
              </a:defRPr>
            </a:pPr>
            <a:r>
              <a:t>Local Fiat Choice (£ / ₫)</a:t>
            </a:r>
          </a:p>
          <a:p>
            <a:pPr>
              <a:spcBef>
                <a:spcPts val="1400"/>
              </a:spcBef>
              <a:defRPr sz="1300">
                <a:solidFill>
                  <a:srgbClr val="0F172A"/>
                </a:solidFill>
              </a:defRPr>
            </a:pPr>
            <a:r>
              <a:t>Set directly by parents in their local currency (GBP or VND). Keeps pricing natural, familiar, and easy for non-crypto parents.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645920"/>
            <a:ext cx="3200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A1128"/>
                </a:solidFill>
              </a:defRPr>
            </a:pPr>
            <a:r>
              <a:t>② Market Reference</a:t>
            </a:r>
          </a:p>
          <a:p>
            <a:pPr>
              <a:spcBef>
                <a:spcPts val="600"/>
              </a:spcBef>
              <a:defRPr sz="1300" b="1">
                <a:solidFill>
                  <a:srgbClr val="0EA5E9"/>
                </a:solidFill>
              </a:defRPr>
            </a:pPr>
            <a:r>
              <a:t>Google Lens Visual Match</a:t>
            </a:r>
          </a:p>
          <a:p>
            <a:pPr>
              <a:spcBef>
                <a:spcPts val="1400"/>
              </a:spcBef>
              <a:defRPr sz="1300">
                <a:solidFill>
                  <a:srgbClr val="0F172A"/>
                </a:solidFill>
              </a:defRPr>
            </a:pPr>
            <a:r>
              <a:t>Extracted automatically via Google Lens (SerpApi) image search. Protects parent buyers from wildly overpriced second-hand listings.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00400" cy="4389120"/>
          </a:xfrm>
          <a:prstGeom prst="roundRect">
            <a:avLst/>
          </a:prstGeom>
          <a:solidFill>
            <a:srgbClr val="0A1128"/>
          </a:solidFill>
          <a:ln w="25400"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FF87"/>
                </a:solidFill>
              </a:defRPr>
            </a:pPr>
            <a:r>
              <a:t>③ CKB Equivalent</a:t>
            </a:r>
          </a:p>
          <a:p>
            <a:pPr>
              <a:spcBef>
                <a:spcPts val="600"/>
              </a:spcBef>
              <a:defRPr sz="1300" b="1">
                <a:solidFill>
                  <a:srgbClr val="60EFFF"/>
                </a:solidFill>
              </a:defRPr>
            </a:pPr>
            <a:r>
              <a:t>Real-Time Exchange Settle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Calculated dynamically from CoinGecko feeds. Locked into the CKB Escrow Smart Contract Cell upon trade initiation.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1128"/>
                </a:solidFill>
              </a:defRPr>
            </a:pPr>
            <a:r>
              <a:t>How the Trade Settles on CKB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2423160" cy="3474720"/>
          </a:xfrm>
          <a:prstGeom prst="roundRect">
            <a:avLst/>
          </a:prstGeom>
          <a:solidFill>
            <a:srgbClr val="0A112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60EFFF"/>
                </a:solidFill>
              </a:defRPr>
            </a:pPr>
            <a:r>
              <a:t>1. Escrow Lock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</a:defRPr>
            </a:pPr>
            <a:r>
              <a:t>Buyer connects via JoyID passkey and locks CKB equivalent into the custom Escrow Lock Cell.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57016" y="1645920"/>
            <a:ext cx="2423160" cy="3474720"/>
          </a:xfrm>
          <a:prstGeom prst="roundRect">
            <a:avLst/>
          </a:prstGeom>
          <a:solidFill>
            <a:srgbClr val="0A112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60EFFF"/>
                </a:solidFill>
              </a:defRPr>
            </a:pPr>
            <a:r>
              <a:t>2. Safety Check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</a:defRPr>
            </a:pPr>
            <a:r>
              <a:t>Automated Safety Recall check validates toy model against official hazard catalogs.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45920"/>
            <a:ext cx="2423160" cy="3474720"/>
          </a:xfrm>
          <a:prstGeom prst="roundRect">
            <a:avLst/>
          </a:prstGeom>
          <a:solidFill>
            <a:srgbClr val="0A1128"/>
          </a:solidFill>
          <a:ln w="25400"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F87"/>
                </a:solidFill>
              </a:defRPr>
            </a:pPr>
            <a:r>
              <a:t>3. QR Handover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</a:defRPr>
            </a:pPr>
            <a:r>
              <a:t>Buyer displays 1-time dynamic QR code at park/coffee shop meetup. Seller scans to confirm.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42248" y="1645920"/>
            <a:ext cx="2423160" cy="3474720"/>
          </a:xfrm>
          <a:prstGeom prst="roundRect">
            <a:avLst/>
          </a:prstGeom>
          <a:solidFill>
            <a:srgbClr val="0A112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60EFFF"/>
                </a:solidFill>
              </a:defRPr>
            </a:pPr>
            <a:r>
              <a:t>4. Instant Settle</a:t>
            </a:r>
          </a:p>
          <a:p>
            <a:pPr>
              <a:spcBef>
                <a:spcPts val="1200"/>
              </a:spcBef>
              <a:defRPr sz="1200">
                <a:solidFill>
                  <a:srgbClr val="FFFFFF"/>
                </a:solidFill>
              </a:defRPr>
            </a:pPr>
            <a:r>
              <a:t>Dual confirmation releases CKB to seller &amp; transfers Spore DOB Toy Passport to buyer.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303520"/>
            <a:ext cx="10362895" cy="8229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92400E"/>
                </a:solidFill>
              </a:defRPr>
            </a:pPr>
            <a:r>
              <a:t>🛡️ Timeout Refund Safeguard: 7-Day automatic lock expiration allows the buyer to reclaim full CKB funds if the trade is canceled or unconfirmed.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1128"/>
                </a:solidFill>
              </a:defRPr>
            </a:pPr>
            <a:r>
              <a:t>Child Safety &amp; Provenance Highlights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4389120"/>
          </a:xfrm>
          <a:prstGeom prst="roundRect">
            <a:avLst/>
          </a:prstGeom>
          <a:solidFill>
            <a:srgbClr val="0A112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F87"/>
                </a:solidFill>
              </a:defRPr>
            </a:pPr>
            <a:r>
              <a:t>🛡️ Safety Recall Checker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Real-time query against official CPSC &amp; EU Safety Gate databases.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Live alert banner displays while sellers type toy names.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Prevents unsafe or recalled toys from entering the marketplace.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645920"/>
            <a:ext cx="3200400" cy="4389120"/>
          </a:xfrm>
          <a:prstGeom prst="roundRect">
            <a:avLst/>
          </a:prstGeom>
          <a:solidFill>
            <a:srgbClr val="0A112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60EFFF"/>
                </a:solidFill>
              </a:defRPr>
            </a:pPr>
            <a:r>
              <a:t>📜 Spore DOB Passport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On-chain digital passport minted directly on Nervos CKB cells.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Records multi-owner condition history, photo stamps, &amp; parent reviews.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Backed by underlying CKB storage capacity ('melt' value).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00400" cy="4389120"/>
          </a:xfrm>
          <a:prstGeom prst="roundRect">
            <a:avLst/>
          </a:prstGeom>
          <a:solidFill>
            <a:srgbClr val="0A112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F87"/>
                </a:solidFill>
              </a:defRPr>
            </a:pPr>
            <a:r>
              <a:t>🔐 Trustless 2-of-2 Escrow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Custom CKB Smart Contract script locks funds until handover.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Supports both Local Meetups &amp; Tracked Shipping.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Dual confirmation releases CKB &amp; transfers DOB automatically.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FF87"/>
                </a:solidFill>
              </a:defRPr>
            </a:pPr>
            <a:r>
              <a:t>ToyTrade Evolutionary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4389120"/>
          </a:xfrm>
          <a:prstGeom prst="roundRect">
            <a:avLst/>
          </a:prstGeom>
          <a:solidFill>
            <a:srgbClr val="172043"/>
          </a:solidFill>
          <a:ln w="25400"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F87"/>
                </a:solidFill>
              </a:defRPr>
            </a:pPr>
            <a:r>
              <a:t>v1: Live Platform (Current)</a:t>
            </a:r>
          </a:p>
          <a:p>
            <a:pPr>
              <a:spcBef>
                <a:spcPts val="400"/>
              </a:spcBef>
              <a:defRPr sz="1200" b="1">
                <a:solidFill>
                  <a:srgbClr val="94A3B8"/>
                </a:solidFill>
              </a:defRPr>
            </a:pPr>
            <a:r>
              <a:t>Core Trading &amp; Escrow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CKB 2-of-2 Escrow Lock scripts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Spore DOB Toy Passports &amp; Timeline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📱 QR Meetup Handover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🛡️ Automated Safety Recall Checker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💰 3-Price Transparency &amp; JoyID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645920"/>
            <a:ext cx="3200400" cy="4389120"/>
          </a:xfrm>
          <a:prstGeom prst="roundRect">
            <a:avLst/>
          </a:prstGeom>
          <a:solidFill>
            <a:srgbClr val="172043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60EFFF"/>
                </a:solidFill>
              </a:defRPr>
            </a:pPr>
            <a:r>
              <a:t>v2: Fiber Network Channels</a:t>
            </a:r>
          </a:p>
          <a:p>
            <a:pPr>
              <a:spcBef>
                <a:spcPts val="400"/>
              </a:spcBef>
              <a:defRPr sz="1200" b="1">
                <a:solidFill>
                  <a:srgbClr val="94A3B8"/>
                </a:solidFill>
              </a:defRPr>
            </a:pPr>
            <a:r>
              <a:t>Instant Layer 2 Payments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Integrate CKB Fiber L2 payment channels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Ultra-low transaction fees for micro-trades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Instant sub-second payment settlement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High-throughput parent trading pipelines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00400" cy="4389120"/>
          </a:xfrm>
          <a:prstGeom prst="roundRect">
            <a:avLst/>
          </a:prstGeom>
          <a:solidFill>
            <a:srgbClr val="172043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60EFFF"/>
                </a:solidFill>
              </a:defRPr>
            </a:pPr>
            <a:r>
              <a:t>v3: Bitcoin Cross-Chain</a:t>
            </a:r>
          </a:p>
          <a:p>
            <a:pPr>
              <a:spcBef>
                <a:spcPts val="400"/>
              </a:spcBef>
              <a:defRPr sz="1200" b="1">
                <a:solidFill>
                  <a:srgbClr val="94A3B8"/>
                </a:solidFill>
              </a:defRPr>
            </a:pPr>
            <a:r>
              <a:t>BTC Native Settlement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Leverage CKB RGB++ / Cross-Chain hubs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Settle physical toy trades in native BTC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Global liquidity pools for rare collectibles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• Cross-border parent trading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