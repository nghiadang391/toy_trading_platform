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8f037571d804b6d" /><Relationship Type="http://schemas.openxmlformats.org/package/2006/relationships/metadata/core-properties" Target="/docProps/core.xml" Id="R37d036c4283444f6" /><Relationship Type="http://schemas.openxmlformats.org/officeDocument/2006/relationships/extended-properties" Target="/docProps/app.xml" Id="Raf4012e5be784355" /><Relationship Type="http://schemas.openxmlformats.org/officeDocument/2006/relationships/custom-properties" Target="/docProps/custom.xml" Id="Re39afcd4ed01451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ce076f826ff4cb6"/>
  </p:notesMasterIdLst>
  <p:sldIdLst>
    <p:sldId id="256" r:id="Ra1d0083dc87849cf"/>
    <p:sldId id="257" r:id="R8fed09314bbd426d"/>
    <p:sldId id="258" r:id="R3132e86a7d704bef"/>
    <p:sldId id="259" r:id="R7c89a1883c174164"/>
    <p:sldId id="260" r:id="R833f750edaf24eb7"/>
    <p:sldId id="261" r:id="R4f91a8f412a44da2"/>
    <p:sldId id="262" r:id="R2e284e032fbb4b1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1d0083dc87849cf" /><Relationship Type="http://schemas.openxmlformats.org/officeDocument/2006/relationships/slide" Target="/ppt/slides/slide2.xml" Id="R8fed09314bbd426d" /><Relationship Type="http://schemas.openxmlformats.org/officeDocument/2006/relationships/slide" Target="/ppt/slides/slide3.xml" Id="R3132e86a7d704bef" /><Relationship Type="http://schemas.openxmlformats.org/officeDocument/2006/relationships/slide" Target="/ppt/slides/slide4.xml" Id="R7c89a1883c174164" /><Relationship Type="http://schemas.openxmlformats.org/officeDocument/2006/relationships/slide" Target="/ppt/slides/slide5.xml" Id="R833f750edaf24eb7" /><Relationship Type="http://schemas.openxmlformats.org/officeDocument/2006/relationships/slide" Target="/ppt/slides/slide6.xml" Id="R4f91a8f412a44da2" /><Relationship Type="http://schemas.openxmlformats.org/officeDocument/2006/relationships/slide" Target="/ppt/slides/slide7.xml" Id="R2e284e032fbb4b15" /><Relationship Type="http://schemas.openxmlformats.org/officeDocument/2006/relationships/notesMaster" Target="/ppt/notesMasters/notesMaster1.xml" Id="R5ce076f826ff4c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ff6f398753a455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54d3f74d0c94bf3" /><Relationship Type="http://schemas.openxmlformats.org/officeDocument/2006/relationships/slide" Target="/ppt/slides/slide1.xml" Id="R598e28fd663e49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3b939b31be74623" /><Relationship Type="http://schemas.openxmlformats.org/officeDocument/2006/relationships/slide" Target="/ppt/slides/slide2.xml" Id="R7e53800feadd4c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a0b91eb76534ff2" /><Relationship Type="http://schemas.openxmlformats.org/officeDocument/2006/relationships/slide" Target="/ppt/slides/slide3.xml" Id="Ree5a6a63ea7946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973e804d5be42ad" /><Relationship Type="http://schemas.openxmlformats.org/officeDocument/2006/relationships/slide" Target="/ppt/slides/slide4.xml" Id="R1166418faaff4f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d9dcaf2af12464e" /><Relationship Type="http://schemas.openxmlformats.org/officeDocument/2006/relationships/slide" Target="/ppt/slides/slide5.xml" Id="R99d02835e9df4d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37fca683c4d494c" /><Relationship Type="http://schemas.openxmlformats.org/officeDocument/2006/relationships/slide" Target="/ppt/slides/slide6.xml" Id="Rb0e7f5840f0845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a9fe131db5843c7" /><Relationship Type="http://schemas.openxmlformats.org/officeDocument/2006/relationships/slide" Target="/ppt/slides/slide7.xml" Id="Rb57216c884db4b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Introduce ToyTrade as the blockchain solution to kids' toy waste. Highlight that it is a direct trade ecosystem settled securely on CKB.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the core friction: kids outgrow toys but parents face high costs and lack local trust. Show how CKB solves this with lock scripts, DOBs, and JoyID.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specifically how CKB protects BOTH sides: the Buyer is protected by cell escrow locks, inspection rights, and 7-day refund timers; the Seller is protected by guaranteed solvency, non-repudiation (no chargebacks), and instant QR payouts.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Detail the 3-price display system: seller's choice, automated visual Google Lens matches to protect against overpricing, and live CKB conversion.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through the step-by-step transaction lifecycle: lock, deliver, confirm release, and the final timeout safety refund safeguard.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the cryptographic authentication layer using CCC and JoyID passkeys, along with Rust smart contract escrow and Spore DOB permanence.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Outline our evolutionary roadmap from core v1 CKB escrow to instant Fiber payments with L1 fallback and cross-chain Bitcoin support.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3d863716544e6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d09c8c0d754d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bfb46eb95f42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27172d5e349d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ba2a89ae274ac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818ffaf559a468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aeba49ee84bd0" /><Relationship Type="http://schemas.openxmlformats.org/officeDocument/2006/relationships/notesSlide" Target="/ppt/notesSlides/notesSlide1.xml" Id="Racf89f4dd0084c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39775567b4420" /><Relationship Type="http://schemas.openxmlformats.org/officeDocument/2006/relationships/notesSlide" Target="/ppt/notesSlides/notesSlide2.xml" Id="Re376c1d53f5b49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d56ba95fa4081" /><Relationship Type="http://schemas.openxmlformats.org/officeDocument/2006/relationships/notesSlide" Target="/ppt/notesSlides/notesSlide3.xml" Id="Rb297f6ca279641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9108639ce4bcf" /><Relationship Type="http://schemas.openxmlformats.org/officeDocument/2006/relationships/notesSlide" Target="/ppt/notesSlides/notesSlide4.xml" Id="Rfdb4d8c53fb048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94a3958e24698" /><Relationship Type="http://schemas.openxmlformats.org/officeDocument/2006/relationships/notesSlide" Target="/ppt/notesSlides/notesSlide5.xml" Id="R0e88195efe0b4d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73bbf6ea84754" /><Relationship Type="http://schemas.openxmlformats.org/officeDocument/2006/relationships/notesSlide" Target="/ppt/notesSlides/notesSlide6.xml" Id="R8da9b14a7b7d43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6f39bd6c640a5" /><Relationship Type="http://schemas.openxmlformats.org/officeDocument/2006/relationships/notesSlide" Target="/ppt/notesSlides/notesSlide7.xml" Id="R62c7bf4573d543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720000" y="1260000"/>
            <a:ext cx="10753200" cy="1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6400" b="1">
                <a:solidFill>
                  <a:srgbClr val="FFFFFF"/>
                </a:solidFill>
                <a:latin typeface="Georgia"/>
                <a:ea typeface="Georgia"/>
              </a:rPr>
              <a:t>ToyTrade</a:t>
            </a:r>
          </a:p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756000" y="2808000"/>
            <a:ext cx="10753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CADCFC"/>
                </a:solidFill>
                <a:latin typeface="Calibri"/>
                <a:ea typeface="Calibri"/>
              </a:rPr>
              <a:t>Secure, Provenance-Tracked Kids' Toy Exchange on Nervos CKB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756000" y="3780000"/>
            <a:ext cx="5040000" cy="7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>
            <a:solidFill>
              <a:srgbClr val="CADCF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900000" y="3888000"/>
            <a:ext cx="468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0FF87"/>
                </a:solidFill>
                <a:latin typeface="Calibri"/>
                <a:ea typeface="Calibri"/>
              </a:rPr>
              <a:t>Protected by CKB Dual-Lock Escrow &amp; Spore DOBs</a:t>
            </a:r>
          </a:p>
        </p:txBody>
      </p:sp>
      <p:sp>
        <p:nvSpPr>
          <p:cNvPr id="100004" name="TextBox 5"/>
          <p:cNvSpPr/>
          <p:nvPr/>
        </p:nvSpPr>
        <p:spPr>
          <a:xfrm xmlns:a="http://schemas.openxmlformats.org/drawingml/2006/main">
            <a:off x="756000" y="5220000"/>
            <a:ext cx="72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8899BB"/>
                </a:solidFill>
                <a:latin typeface="Calibri"/>
                <a:ea typeface="Calibri"/>
              </a:rPr>
              <a:t>A Blockchain-Powered Alternative to Buying New</a:t>
            </a:r>
          </a:p>
          <a:p xmlns:a="http://schemas.openxmlformats.org/drawingml/2006/main">
            <a:r>
              <a:rPr lang="en-US" sz="1500">
                <a:solidFill>
                  <a:srgbClr val="8899BB"/>
                </a:solidFill>
                <a:latin typeface="Calibri"/>
                <a:ea typeface="Calibri"/>
              </a:rPr>
              <a:t>August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E2761"/>
                </a:solidFill>
                <a:latin typeface="Georgia"/>
                <a:ea typeface="Georgia"/>
              </a:rPr>
              <a:t>Why Parents Need ToyTrade</a:t>
            </a:r>
          </a:p>
        </p:txBody>
      </p:sp>
      <p:sp>
        <p:nvSpPr>
          <p:cNvPr id="100006" name="TextBox 2"/>
          <p:cNvSpPr/>
          <p:nvPr/>
        </p:nvSpPr>
        <p:spPr>
          <a:xfrm xmlns:a="http://schemas.openxmlformats.org/drawingml/2006/main">
            <a:off x="540000" y="1260000"/>
            <a:ext cx="52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7" name="TextBox 3"/>
          <p:cNvSpPr/>
          <p:nvPr/>
        </p:nvSpPr>
        <p:spPr>
          <a:xfrm xmlns:a="http://schemas.openxmlformats.org/drawingml/2006/main">
            <a:off x="900000" y="1620000"/>
            <a:ext cx="45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B85042"/>
                </a:solidFill>
                <a:latin typeface="Georgia"/>
                <a:ea typeface="Georgia"/>
              </a:rPr>
              <a:t>The Problem in Second-Hand Trading</a:t>
            </a:r>
          </a:p>
        </p:txBody>
      </p:sp>
      <p:sp>
        <p:nvSpPr>
          <p:cNvPr id="100008" name="TextBox 4"/>
          <p:cNvSpPr/>
          <p:nvPr/>
        </p:nvSpPr>
        <p:spPr>
          <a:xfrm xmlns:a="http://schemas.openxmlformats.org/drawingml/2006/main">
            <a:off x="900000" y="2340000"/>
            <a:ext cx="4500000" cy="30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• Rapid Outgrowth: Kids outgrow toys quickly, causing recurring financial waste for families.</a:t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• High Counterfeit &amp; Broken Toy Risk: Used marketplaces lack verifiable condition history and safety recall audits.</a:t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• Zero Transactional Trust: Meetups and peer payments suffer from fake bank slips, ghosting, and payment disputes.</a:t>
            </a:r>
          </a:p>
        </p:txBody>
      </p:sp>
      <p:sp>
        <p:nvSpPr>
          <p:cNvPr id="100009" name="TextBox 5"/>
          <p:cNvSpPr/>
          <p:nvPr/>
        </p:nvSpPr>
        <p:spPr>
          <a:xfrm xmlns:a="http://schemas.openxmlformats.org/drawingml/2006/main">
            <a:off x="6300000" y="1260000"/>
            <a:ext cx="52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extBox 6"/>
          <p:cNvSpPr/>
          <p:nvPr/>
        </p:nvSpPr>
        <p:spPr>
          <a:xfrm xmlns:a="http://schemas.openxmlformats.org/drawingml/2006/main">
            <a:off x="6660000" y="1620000"/>
            <a:ext cx="45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The CKB Architecture Solution</a:t>
            </a:r>
          </a:p>
        </p:txBody>
      </p:sp>
      <p:sp>
        <p:nvSpPr>
          <p:cNvPr id="100011" name="TextBox 7"/>
          <p:cNvSpPr/>
          <p:nvPr/>
        </p:nvSpPr>
        <p:spPr>
          <a:xfrm xmlns:a="http://schemas.openxmlformats.org/drawingml/2006/main">
            <a:off x="6660000" y="2340000"/>
            <a:ext cx="4500000" cy="30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>• Dual-Lock Cell Escrow: CKB smart contracts hold settlement funds trustlessly until both parties confirm delivery.</a:t>
            </a:r>
          </a:p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>• Spore DOB Toy Passport: On-chain digital object tracks toy condition history, owner reviews, and provenance.</a:t>
            </a:r>
          </a:p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>• JoyID Passkey Biometrics: Parents login and sign with device fingerprint/FaceID without seed phrase friction.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/>
          <p:nvPr/>
        </p:nvSpPr>
        <p:spPr>
          <a:xfrm xmlns:a="http://schemas.openxmlformats.org/drawingml/2006/main">
            <a:off x="540000" y="360000"/>
            <a:ext cx="111132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E2761"/>
                </a:solidFill>
                <a:latin typeface="Georgia"/>
                <a:ea typeface="Georgia"/>
              </a:rPr>
              <a:t>How CKB Protects Both Buyer and Seller</a:t>
            </a:r>
          </a:p>
        </p:txBody>
      </p:sp>
      <p:sp>
        <p:nvSpPr>
          <p:cNvPr id="100013" name="TextBox 2"/>
          <p:cNvSpPr/>
          <p:nvPr/>
        </p:nvSpPr>
        <p:spPr>
          <a:xfrm xmlns:a="http://schemas.openxmlformats.org/drawingml/2006/main">
            <a:off x="540000" y="1008000"/>
            <a:ext cx="5220000" cy="532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ADCF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TextBox 3"/>
          <p:cNvSpPr/>
          <p:nvPr/>
        </p:nvSpPr>
        <p:spPr>
          <a:xfrm xmlns:a="http://schemas.openxmlformats.org/drawingml/2006/main">
            <a:off x="792000" y="1224000"/>
            <a:ext cx="471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TextBox 4"/>
          <p:cNvSpPr/>
          <p:nvPr/>
        </p:nvSpPr>
        <p:spPr>
          <a:xfrm xmlns:a="http://schemas.openxmlformats.org/drawingml/2006/main">
            <a:off x="900000" y="1278000"/>
            <a:ext cx="45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FFFF"/>
                </a:solidFill>
                <a:latin typeface="Georgia"/>
                <a:ea typeface="Georgia"/>
              </a:rPr>
              <a:t>How CKB Protects the BUYER</a:t>
            </a:r>
          </a:p>
        </p:txBody>
      </p:sp>
      <p:sp>
        <p:nvSpPr>
          <p:cNvPr id="100016" name="TextBox 5"/>
          <p:cNvSpPr/>
          <p:nvPr/>
        </p:nvSpPr>
        <p:spPr>
          <a:xfrm xmlns:a="http://schemas.openxmlformats.org/drawingml/2006/main">
            <a:off x="828000" y="1728000"/>
            <a:ext cx="4644000" cy="43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1. Funds Locked in Smart Contract: Money stays safely in the CKB Escrow Cell until the buyer confirms physical handover.</a:t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2. In-Person Inspection First: Buyer inspects the physical toy at meetup before scanning the QR code to release payment.</a:t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3. 7-Day Auto-Timeout Refund: If the seller ghosts or fails to deliver, buyer independently reclaims 100% of their locked CKB.</a:t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4. Verified Spore DOB Passport: Guarantees authentic ownership history and past parent rating scores.</a:t>
            </a:r>
          </a:p>
        </p:txBody>
      </p:sp>
      <p:sp>
        <p:nvSpPr>
          <p:cNvPr id="100017" name="TextBox 6"/>
          <p:cNvSpPr/>
          <p:nvPr/>
        </p:nvSpPr>
        <p:spPr>
          <a:xfrm xmlns:a="http://schemas.openxmlformats.org/drawingml/2006/main">
            <a:off x="6300000" y="1008000"/>
            <a:ext cx="5220000" cy="532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ADCF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TextBox 7"/>
          <p:cNvSpPr/>
          <p:nvPr/>
        </p:nvSpPr>
        <p:spPr>
          <a:xfrm xmlns:a="http://schemas.openxmlformats.org/drawingml/2006/main">
            <a:off x="6552000" y="1224000"/>
            <a:ext cx="471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TextBox 8"/>
          <p:cNvSpPr/>
          <p:nvPr/>
        </p:nvSpPr>
        <p:spPr>
          <a:xfrm xmlns:a="http://schemas.openxmlformats.org/drawingml/2006/main">
            <a:off x="6660000" y="1278000"/>
            <a:ext cx="45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FFFF"/>
                </a:solidFill>
                <a:latin typeface="Georgia"/>
                <a:ea typeface="Georgia"/>
              </a:rPr>
              <a:t>How CKB Protects the SELLER</a:t>
            </a:r>
          </a:p>
        </p:txBody>
      </p:sp>
      <p:sp>
        <p:nvSpPr>
          <p:cNvPr id="100020" name="TextBox 9"/>
          <p:cNvSpPr/>
          <p:nvPr/>
        </p:nvSpPr>
        <p:spPr>
          <a:xfrm xmlns:a="http://schemas.openxmlformats.org/drawingml/2006/main">
            <a:off x="6588000" y="1728000"/>
            <a:ext cx="4644000" cy="43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1. Guaranteed Solvency Before Meetup: Seller only travels after CKB deposit is verified on-chain. Zero fake payment slips.</a:t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2. Zero Chargeback Scams (Non-Repudiation): Once settled via Fiber preimage or dual-sign, payment is final and irreversible.</a:t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3. Instant Handover Settlement: QR scan triggers sub-second release of funds directly to the seller's JoyID wallet.</a:t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333333"/>
                </a:solidFill>
                <a:latin typeface="Calibri"/>
                <a:ea typeface="Calibri"/>
              </a:rPr>
              <a:t>4. Immutable Seller Reputation: Completed trades record permanent on-chain ratings that protect honest sellers.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E2761"/>
                </a:solidFill>
                <a:latin typeface="Georgia"/>
                <a:ea typeface="Georgia"/>
              </a:rPr>
              <a:t>Three-Price Market Integrity</a:t>
            </a:r>
          </a:p>
        </p:txBody>
      </p:sp>
      <p:sp>
        <p:nvSpPr>
          <p:cNvPr id="100022" name="TextBox 2"/>
          <p:cNvSpPr/>
          <p:nvPr/>
        </p:nvSpPr>
        <p:spPr>
          <a:xfrm xmlns:a="http://schemas.openxmlformats.org/drawingml/2006/main">
            <a:off x="54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TextBox 3"/>
          <p:cNvSpPr/>
          <p:nvPr/>
        </p:nvSpPr>
        <p:spPr>
          <a:xfrm xmlns:a="http://schemas.openxmlformats.org/drawingml/2006/main">
            <a:off x="90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1E2761"/>
                </a:solidFill>
                <a:latin typeface="Georgia"/>
                <a:ea typeface="Georgia"/>
              </a:rPr>
              <a:t>① Seller's Price</a:t>
            </a:r>
          </a:p>
        </p:txBody>
      </p:sp>
      <p:sp>
        <p:nvSpPr>
          <p:cNvPr id="100024" name="TextBox 4"/>
          <p:cNvSpPr/>
          <p:nvPr/>
        </p:nvSpPr>
        <p:spPr>
          <a:xfrm xmlns:a="http://schemas.openxmlformats.org/drawingml/2006/main">
            <a:off x="900000" y="2700000"/>
            <a:ext cx="27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Set directly by parents in their local currency (£ GBP / ₫ VND).</a:t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Maintains a familiar, friendly fiat shopping experience for non-crypto parents.</a:t>
            </a:r>
          </a:p>
        </p:txBody>
      </p:sp>
      <p:sp>
        <p:nvSpPr>
          <p:cNvPr id="100025" name="TextBox 5"/>
          <p:cNvSpPr/>
          <p:nvPr/>
        </p:nvSpPr>
        <p:spPr>
          <a:xfrm xmlns:a="http://schemas.openxmlformats.org/drawingml/2006/main">
            <a:off x="432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6" name="TextBox 6"/>
          <p:cNvSpPr/>
          <p:nvPr/>
        </p:nvSpPr>
        <p:spPr>
          <a:xfrm xmlns:a="http://schemas.openxmlformats.org/drawingml/2006/main">
            <a:off x="468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B85042"/>
                </a:solidFill>
                <a:latin typeface="Georgia"/>
                <a:ea typeface="Georgia"/>
              </a:rPr>
              <a:t>② Market Reference</a:t>
            </a:r>
          </a:p>
        </p:txBody>
      </p:sp>
      <p:sp>
        <p:nvSpPr>
          <p:cNvPr id="100027" name="TextBox 7"/>
          <p:cNvSpPr/>
          <p:nvPr/>
        </p:nvSpPr>
        <p:spPr>
          <a:xfrm xmlns:a="http://schemas.openxmlformats.org/drawingml/2006/main">
            <a:off x="4680000" y="2700000"/>
            <a:ext cx="27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Retrieved automatically via Google Lens visual shopping matches.</a:t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Protects buyers against overpriced listings and helps sellers price fairly.</a:t>
            </a:r>
          </a:p>
        </p:txBody>
      </p:sp>
      <p:sp>
        <p:nvSpPr>
          <p:cNvPr id="100028" name="TextBox 8"/>
          <p:cNvSpPr/>
          <p:nvPr/>
        </p:nvSpPr>
        <p:spPr>
          <a:xfrm xmlns:a="http://schemas.openxmlformats.org/drawingml/2006/main">
            <a:off x="810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9" name="TextBox 9"/>
          <p:cNvSpPr/>
          <p:nvPr/>
        </p:nvSpPr>
        <p:spPr>
          <a:xfrm xmlns:a="http://schemas.openxmlformats.org/drawingml/2006/main">
            <a:off x="846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③ CKB Equivalent</a:t>
            </a:r>
          </a:p>
        </p:txBody>
      </p:sp>
      <p:sp>
        <p:nvSpPr>
          <p:cNvPr id="100030" name="TextBox 10"/>
          <p:cNvSpPr/>
          <p:nvPr/>
        </p:nvSpPr>
        <p:spPr>
          <a:xfrm xmlns:a="http://schemas.openxmlformats.org/drawingml/2006/main">
            <a:off x="8460000" y="2700000"/>
            <a:ext cx="27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>Converted in real-time from live CoinGecko price feeds.</a:t>
            </a:r>
          </a:p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FFFFFF"/>
                </a:solidFill>
                <a:latin typeface="Calibri"/>
                <a:ea typeface="Calibri"/>
              </a:rPr>
              <a:t>Locked at trade initiation for on-chain escrow or Fiber invoice settlement.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1E2761"/>
                </a:solidFill>
                <a:latin typeface="Georgia"/>
                <a:ea typeface="Georgia"/>
              </a:rPr>
              <a:t>End-to-End Trade Settlement Lifecycle</a:t>
            </a:r>
          </a:p>
        </p:txBody>
      </p:sp>
      <p:sp>
        <p:nvSpPr>
          <p:cNvPr id="100032" name="TextBox 2"/>
          <p:cNvSpPr/>
          <p:nvPr/>
        </p:nvSpPr>
        <p:spPr>
          <a:xfrm xmlns:a="http://schemas.openxmlformats.org/drawingml/2006/main">
            <a:off x="540000" y="1440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1. Lock Escrow</a:t>
            </a:r>
          </a:p>
        </p:txBody>
      </p:sp>
      <p:sp>
        <p:nvSpPr>
          <p:cNvPr id="100033" name="TextBox 3"/>
          <p:cNvSpPr/>
          <p:nvPr/>
        </p:nvSpPr>
        <p:spPr>
          <a:xfrm xmlns:a="http://schemas.openxmlformats.org/drawingml/2006/main">
            <a:off x="2700000" y="1440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Buyer funds the trade; CKB is locked inside the 2-of-2 Escrow Lock Cell on Layer 1.</a:t>
            </a:r>
          </a:p>
        </p:txBody>
      </p:sp>
      <p:sp>
        <p:nvSpPr>
          <p:cNvPr id="100034" name="TextBox 4"/>
          <p:cNvSpPr/>
          <p:nvPr/>
        </p:nvSpPr>
        <p:spPr>
          <a:xfrm xmlns:a="http://schemas.openxmlformats.org/drawingml/2006/main">
            <a:off x="540000" y="2448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2. Meetup / Ship</a:t>
            </a:r>
          </a:p>
        </p:txBody>
      </p:sp>
      <p:sp>
        <p:nvSpPr>
          <p:cNvPr id="100035" name="TextBox 5"/>
          <p:cNvSpPr/>
          <p:nvPr/>
        </p:nvSpPr>
        <p:spPr>
          <a:xfrm xmlns:a="http://schemas.openxmlformats.org/drawingml/2006/main">
            <a:off x="2700000" y="2448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Seller hands over physical toy at local meetup or dispatches tracked shipping package.</a:t>
            </a:r>
          </a:p>
        </p:txBody>
      </p:sp>
      <p:sp>
        <p:nvSpPr>
          <p:cNvPr id="100036" name="TextBox 6"/>
          <p:cNvSpPr/>
          <p:nvPr/>
        </p:nvSpPr>
        <p:spPr>
          <a:xfrm xmlns:a="http://schemas.openxmlformats.org/drawingml/2006/main">
            <a:off x="540000" y="3456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3. Dual Release</a:t>
            </a:r>
          </a:p>
        </p:txBody>
      </p:sp>
      <p:sp>
        <p:nvSpPr>
          <p:cNvPr id="100037" name="TextBox 7"/>
          <p:cNvSpPr/>
          <p:nvPr/>
        </p:nvSpPr>
        <p:spPr>
          <a:xfrm xmlns:a="http://schemas.openxmlformats.org/drawingml/2006/main">
            <a:off x="2700000" y="3456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Buyer scans seller's QR code (or confirms online); CKB releases to seller &amp; Spore DOB transfers to buyer.</a:t>
            </a:r>
          </a:p>
        </p:txBody>
      </p:sp>
      <p:sp>
        <p:nvSpPr>
          <p:cNvPr id="100038" name="TextBox 8"/>
          <p:cNvSpPr/>
          <p:nvPr/>
        </p:nvSpPr>
        <p:spPr>
          <a:xfrm xmlns:a="http://schemas.openxmlformats.org/drawingml/2006/main">
            <a:off x="540000" y="4464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04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Georgia"/>
                <a:ea typeface="Georgia"/>
              </a:rPr>
              <a:t>Safeguard</a:t>
            </a:r>
          </a:p>
        </p:txBody>
      </p:sp>
      <p:sp>
        <p:nvSpPr>
          <p:cNvPr id="100039" name="TextBox 9"/>
          <p:cNvSpPr/>
          <p:nvPr/>
        </p:nvSpPr>
        <p:spPr>
          <a:xfrm xmlns:a="http://schemas.openxmlformats.org/drawingml/2006/main">
            <a:off x="2700000" y="4464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333333"/>
                </a:solidFill>
                <a:latin typeface="Calibri"/>
                <a:ea typeface="Calibri"/>
              </a:rPr>
              <a:t>7-day timelock allows buyer to reclaim 100% of locked funds if seller fails to deliver.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9F6F0"/>
        </a:solidFill>
      </p:bgPr>
    </p:bg>
    <p:spTree>
      <p:nvGrpSpPr>
        <p:cNvPr id="1" name=""/>
        <p:cNvGrpSpPr/>
        <p:nvPr/>
      </p:nvGrpSpPr>
      <p:grpSpPr/>
      <p:sp>
        <p:nvSpPr>
          <p:cNvPr id="100040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Security Architecture &amp; Cryptographic Auth</a:t>
            </a:r>
          </a:p>
        </p:txBody>
      </p:sp>
      <p:sp>
        <p:nvSpPr>
          <p:cNvPr id="100041" name="TextBox 2"/>
          <p:cNvSpPr/>
          <p:nvPr/>
        </p:nvSpPr>
        <p:spPr>
          <a:xfrm xmlns:a="http://schemas.openxmlformats.org/drawingml/2006/main">
            <a:off x="540000" y="1260000"/>
            <a:ext cx="34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2" name="TextBox 3"/>
          <p:cNvSpPr/>
          <p:nvPr/>
        </p:nvSpPr>
        <p:spPr>
          <a:xfrm xmlns:a="http://schemas.openxmlformats.org/drawingml/2006/main">
            <a:off x="792000" y="1512000"/>
            <a:ext cx="2916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Georgia"/>
                <a:ea typeface="Georgia"/>
              </a:rPr>
              <a:t>1. JoyID &amp; CCC Auth</a:t>
            </a:r>
          </a:p>
        </p:txBody>
      </p:sp>
      <p:sp>
        <p:nvSpPr>
          <p:cNvPr id="100043" name="TextBox 4"/>
          <p:cNvSpPr/>
          <p:nvPr/>
        </p:nvSpPr>
        <p:spPr>
          <a:xfrm xmlns:a="http://schemas.openxmlformats.org/drawingml/2006/main">
            <a:off x="792000" y="2160000"/>
            <a:ext cx="2916000" cy="3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Uses CKB Common Chain Connector (CCC) SDK.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Verifies WebAuthn passkey signatures on backend before accepting listings or chat messages.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Zero identity spoofing or unauthorized trade modifications.</a:t>
            </a:r>
          </a:p>
        </p:txBody>
      </p:sp>
      <p:sp>
        <p:nvSpPr>
          <p:cNvPr id="100044" name="TextBox 5"/>
          <p:cNvSpPr/>
          <p:nvPr/>
        </p:nvSpPr>
        <p:spPr>
          <a:xfrm xmlns:a="http://schemas.openxmlformats.org/drawingml/2006/main">
            <a:off x="4320000" y="1260000"/>
            <a:ext cx="34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E0E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5" name="TextBox 6"/>
          <p:cNvSpPr/>
          <p:nvPr/>
        </p:nvSpPr>
        <p:spPr>
          <a:xfrm xmlns:a="http://schemas.openxmlformats.org/drawingml/2006/main">
            <a:off x="4572000" y="1512000"/>
            <a:ext cx="2916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Georgia"/>
                <a:ea typeface="Georgia"/>
              </a:rPr>
              <a:t>2. Smart Escrow</a:t>
            </a:r>
          </a:p>
        </p:txBody>
      </p:sp>
      <p:sp>
        <p:nvSpPr>
          <p:cNvPr id="100046" name="TextBox 7"/>
          <p:cNvSpPr/>
          <p:nvPr/>
        </p:nvSpPr>
        <p:spPr>
          <a:xfrm xmlns:a="http://schemas.openxmlformats.org/drawingml/2006/main">
            <a:off x="4572000" y="2160000"/>
            <a:ext cx="2916000" cy="3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Custom Rust CKB lock script.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Requires cryptographic confirmation from both buyer and seller to unlock settlement cell.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• Enforces absolute solvency on every active trade.</a:t>
            </a:r>
          </a:p>
        </p:txBody>
      </p:sp>
      <p:sp>
        <p:nvSpPr>
          <p:cNvPr id="100047" name="TextBox 8"/>
          <p:cNvSpPr/>
          <p:nvPr/>
        </p:nvSpPr>
        <p:spPr>
          <a:xfrm xmlns:a="http://schemas.openxmlformats.org/drawingml/2006/main">
            <a:off x="8100000" y="1260000"/>
            <a:ext cx="34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TextBox 9"/>
          <p:cNvSpPr/>
          <p:nvPr/>
        </p:nvSpPr>
        <p:spPr>
          <a:xfrm xmlns:a="http://schemas.openxmlformats.org/drawingml/2006/main">
            <a:off x="8352000" y="1512000"/>
            <a:ext cx="2916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CADCFC"/>
                </a:solidFill>
                <a:latin typeface="Georgia"/>
                <a:ea typeface="Georgia"/>
              </a:rPr>
              <a:t>3. Toy Passport DOB</a:t>
            </a:r>
          </a:p>
        </p:txBody>
      </p:sp>
      <p:sp>
        <p:nvSpPr>
          <p:cNvPr id="100049" name="TextBox 10"/>
          <p:cNvSpPr/>
          <p:nvPr/>
        </p:nvSpPr>
        <p:spPr>
          <a:xfrm xmlns:a="http://schemas.openxmlformats.org/drawingml/2006/main">
            <a:off x="8352000" y="2160000"/>
            <a:ext cx="2916000" cy="3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• Backed by genuine CKB cell capacity.</a:t>
            </a:r>
          </a:p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• Holds immutable ownership timeline and parent reviews.</a:t>
            </a:r>
          </a:p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Calibri"/>
                <a:ea typeface="Calibri"/>
              </a:rPr>
              <a:t>• Can never be deleted, forged, or stolen off-chain.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50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FFFFFF"/>
                </a:solidFill>
                <a:latin typeface="Georgia"/>
                <a:ea typeface="Georgia"/>
              </a:rPr>
              <a:t>ToyTrade Evolutionary Roadmap</a:t>
            </a:r>
          </a:p>
        </p:txBody>
      </p:sp>
      <p:sp>
        <p:nvSpPr>
          <p:cNvPr id="100051" name="TextBox 2"/>
          <p:cNvSpPr/>
          <p:nvPr/>
        </p:nvSpPr>
        <p:spPr>
          <a:xfrm xmlns:a="http://schemas.openxmlformats.org/drawingml/2006/main">
            <a:off x="54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TextBox 3"/>
          <p:cNvSpPr/>
          <p:nvPr/>
        </p:nvSpPr>
        <p:spPr>
          <a:xfrm xmlns:a="http://schemas.openxmlformats.org/drawingml/2006/main">
            <a:off x="90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00FF87"/>
                </a:solidFill>
                <a:latin typeface="Georgia"/>
                <a:ea typeface="Georgia"/>
              </a:rPr>
              <a:t>v1: CKB Escrow</a:t>
            </a:r>
          </a:p>
        </p:txBody>
      </p:sp>
      <p:sp>
        <p:nvSpPr>
          <p:cNvPr id="100053" name="TextBox 4"/>
          <p:cNvSpPr/>
          <p:nvPr/>
        </p:nvSpPr>
        <p:spPr>
          <a:xfrm xmlns:a="http://schemas.openxmlformats.org/drawingml/2006/main">
            <a:off x="900000" y="2700000"/>
            <a:ext cx="27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ADCFC"/>
                </a:solidFill>
                <a:latin typeface="Calibri"/>
                <a:ea typeface="Calibri"/>
              </a:rPr>
              <a:t>Core platform featuring listings, custom escrow lock scripts, Toy Passport DOBs, user rating systems, and 3-price dynamic displays.</a:t>
            </a:r>
          </a:p>
        </p:txBody>
      </p:sp>
      <p:sp>
        <p:nvSpPr>
          <p:cNvPr id="100054" name="TextBox 5"/>
          <p:cNvSpPr/>
          <p:nvPr/>
        </p:nvSpPr>
        <p:spPr>
          <a:xfrm xmlns:a="http://schemas.openxmlformats.org/drawingml/2006/main">
            <a:off x="432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5" name="TextBox 6"/>
          <p:cNvSpPr/>
          <p:nvPr/>
        </p:nvSpPr>
        <p:spPr>
          <a:xfrm xmlns:a="http://schemas.openxmlformats.org/drawingml/2006/main">
            <a:off x="468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v2: Fiber Network</a:t>
            </a:r>
          </a:p>
        </p:txBody>
      </p:sp>
      <p:sp>
        <p:nvSpPr>
          <p:cNvPr id="100056" name="TextBox 7"/>
          <p:cNvSpPr/>
          <p:nvPr/>
        </p:nvSpPr>
        <p:spPr>
          <a:xfrm xmlns:a="http://schemas.openxmlformats.org/drawingml/2006/main">
            <a:off x="4680000" y="2700000"/>
            <a:ext cx="27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8899BB"/>
                </a:solidFill>
                <a:latin typeface="Calibri"/>
                <a:ea typeface="Calibri"/>
              </a:rPr>
              <a:t>Default instant Fiber handover with automated Layer 1 Escrow fallback. Enables sub-second meetup settlement and micro-toy trades.</a:t>
            </a:r>
          </a:p>
        </p:txBody>
      </p:sp>
      <p:sp>
        <p:nvSpPr>
          <p:cNvPr id="100057" name="TextBox 8"/>
          <p:cNvSpPr/>
          <p:nvPr/>
        </p:nvSpPr>
        <p:spPr>
          <a:xfrm xmlns:a="http://schemas.openxmlformats.org/drawingml/2006/main">
            <a:off x="810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8" name="TextBox 9"/>
          <p:cNvSpPr/>
          <p:nvPr/>
        </p:nvSpPr>
        <p:spPr>
          <a:xfrm xmlns:a="http://schemas.openxmlformats.org/drawingml/2006/main">
            <a:off x="846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CADCFC"/>
                </a:solidFill>
                <a:latin typeface="Georgia"/>
                <a:ea typeface="Georgia"/>
              </a:rPr>
              <a:t>v3: Bitcoin Swaps</a:t>
            </a:r>
          </a:p>
        </p:txBody>
      </p:sp>
      <p:sp>
        <p:nvSpPr>
          <p:cNvPr id="100059" name="TextBox 10"/>
          <p:cNvSpPr/>
          <p:nvPr/>
        </p:nvSpPr>
        <p:spPr>
          <a:xfrm xmlns:a="http://schemas.openxmlformats.org/drawingml/2006/main">
            <a:off x="8460000" y="2700000"/>
            <a:ext cx="27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8899BB"/>
                </a:solidFill>
                <a:latin typeface="Calibri"/>
                <a:ea typeface="Calibri"/>
              </a:rPr>
              <a:t>Leveraging cross-chain hubs to support native Bitcoin settlements as alternative trade settlement options.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2026-08-15T05:01:25Z</dcterms:created>
  <cp:lastModifiedBy>OfficeCLI</cp:lastModifiedBy>
  <dcterms:modified xsi:type="dcterms:W3CDTF">2026-08-15T05:01:25Z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2026-08-15T05:01:41Z</vt:lpwstr>
  </op:property>
</op:Properties>
</file>