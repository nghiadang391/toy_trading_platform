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9faf822fb6ae4a7c" /><Relationship Type="http://schemas.openxmlformats.org/package/2006/relationships/metadata/core-properties" Target="/docProps/core.xml" Id="R6d58e875ceae4c19" /><Relationship Type="http://schemas.openxmlformats.org/officeDocument/2006/relationships/extended-properties" Target="/docProps/app.xml" Id="R5b19e418c56047fd" /><Relationship Type="http://schemas.openxmlformats.org/officeDocument/2006/relationships/custom-properties" Target="/docProps/custom.xml" Id="R1a57fc50b2e9465a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ef43082bca29405f"/>
  </p:notesMasterIdLst>
  <p:sldIdLst>
    <p:sldId id="256" r:id="R2c468f8cb41b4ede"/>
    <p:sldId id="257" r:id="R73c543caf0b54299"/>
    <p:sldId id="258" r:id="Rd0dded0d04114e6d"/>
    <p:sldId id="259" r:id="R12df726148b147f2"/>
    <p:sldId id="260" r:id="R586ac000c47b4c8e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2c468f8cb41b4ede" /><Relationship Type="http://schemas.openxmlformats.org/officeDocument/2006/relationships/slide" Target="/ppt/slides/slide2.xml" Id="R73c543caf0b54299" /><Relationship Type="http://schemas.openxmlformats.org/officeDocument/2006/relationships/slide" Target="/ppt/slides/slide3.xml" Id="Rd0dded0d04114e6d" /><Relationship Type="http://schemas.openxmlformats.org/officeDocument/2006/relationships/slide" Target="/ppt/slides/slide4.xml" Id="R12df726148b147f2" /><Relationship Type="http://schemas.openxmlformats.org/officeDocument/2006/relationships/slide" Target="/ppt/slides/slide5.xml" Id="R586ac000c47b4c8e" /><Relationship Type="http://schemas.openxmlformats.org/officeDocument/2006/relationships/notesMaster" Target="/ppt/notesMasters/notesMaster1.xml" Id="Ref43082bca29405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4bee9937fd0f4810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687089e26ba4147" /><Relationship Type="http://schemas.openxmlformats.org/officeDocument/2006/relationships/slide" Target="/ppt/slides/slide1.xml" Id="R3442cf4a61df4b4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ddef7b314ff4862" /><Relationship Type="http://schemas.openxmlformats.org/officeDocument/2006/relationships/slide" Target="/ppt/slides/slide2.xml" Id="R4439e7b574d04b9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e04429937d14609" /><Relationship Type="http://schemas.openxmlformats.org/officeDocument/2006/relationships/slide" Target="/ppt/slides/slide3.xml" Id="R4f222757b60c4c5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338b72d650b4804" /><Relationship Type="http://schemas.openxmlformats.org/officeDocument/2006/relationships/slide" Target="/ppt/slides/slide4.xml" Id="Re8a0b1c1847e4eb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851eb73bb1e4f5b" /><Relationship Type="http://schemas.openxmlformats.org/officeDocument/2006/relationships/slide" Target="/ppt/slides/slide5.xml" Id="R91ebfb895fd0498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Introduce ToyTrade as the blockchain solution to kids' toy waste. Highlight that it is a direct trade ecosystem settled securely on CKB.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Explain the core friction: kids outgrow toys but parents face high costs and lack local trust. Show how CKB solves this with lock scripts, DOBs, and JoyID.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Detail the 3-price display system: seller's choice, automated visual Google Lens matches to protect against overpricing, and live CKB conversion.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through the step-by-step transaction lifecycle: lock, deliver, confirm release, and the final timeout safety refund safeguard.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Outline our evolutionary roadmap from core v1 CKB escrow to instant Fiber payments and cross-chain Bitcoin support.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9671282f2349a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58beccfd4e4f9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f90d21ee6b47b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fcf008b3cc440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ba5b823b8d4904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a38142990ce241ab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249af203554923" /><Relationship Type="http://schemas.openxmlformats.org/officeDocument/2006/relationships/notesSlide" Target="/ppt/notesSlides/notesSlide1.xml" Id="Rd030c246534443a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80886866b64f42" /><Relationship Type="http://schemas.openxmlformats.org/officeDocument/2006/relationships/notesSlide" Target="/ppt/notesSlides/notesSlide2.xml" Id="Rd285d5240b98494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55c40ef03f473e" /><Relationship Type="http://schemas.openxmlformats.org/officeDocument/2006/relationships/notesSlide" Target="/ppt/notesSlides/notesSlide3.xml" Id="R8353b9a2dd864b9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cc1033b5ec472a" /><Relationship Type="http://schemas.openxmlformats.org/officeDocument/2006/relationships/notesSlide" Target="/ppt/notesSlides/notesSlide4.xml" Id="Rb4621c4247844e9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12e63ff9ab4583" /><Relationship Type="http://schemas.openxmlformats.org/officeDocument/2006/relationships/notesSlide" Target="/ppt/notesSlides/notesSlide5.xml" Id="R9dfe8069466c4c5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/>
          <p:nvPr/>
        </p:nvSpPr>
        <p:spPr>
          <a:xfrm xmlns:a="http://schemas.openxmlformats.org/drawingml/2006/main">
            <a:off x="720000" y="1440000"/>
            <a:ext cx="10753200" cy="14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6400" b="1">
                <a:solidFill>
                  <a:srgbClr val="FFFFFF"/>
                </a:solidFill>
                <a:latin typeface="Georgia"/>
                <a:ea typeface="Georgia"/>
              </a:rPr>
              <a:t>ToyTrade</a:t>
            </a:r>
          </a:p>
        </p:txBody>
      </p:sp>
      <p:sp>
        <p:nvSpPr>
          <p:cNvPr id="100001" name="TextBox 2"/>
          <p:cNvSpPr/>
          <p:nvPr/>
        </p:nvSpPr>
        <p:spPr>
          <a:xfrm xmlns:a="http://schemas.openxmlformats.org/drawingml/2006/main">
            <a:off x="756000" y="2952000"/>
            <a:ext cx="10753200" cy="7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200">
                <a:solidFill>
                  <a:srgbClr val="CADCFC"/>
                </a:solidFill>
                <a:latin typeface="Calibri"/>
                <a:ea typeface="Calibri"/>
              </a:rPr>
              <a:t>Secure, Provenance-Tracked Kids' Toy Exchange on Nervos CKB</a:t>
            </a:r>
          </a:p>
        </p:txBody>
      </p:sp>
      <p:sp>
        <p:nvSpPr>
          <p:cNvPr id="100002" name="TextBox 3"/>
          <p:cNvSpPr/>
          <p:nvPr/>
        </p:nvSpPr>
        <p:spPr>
          <a:xfrm xmlns:a="http://schemas.openxmlformats.org/drawingml/2006/main">
            <a:off x="756000" y="5040000"/>
            <a:ext cx="7200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8899BB"/>
                </a:solidFill>
                <a:latin typeface="Calibri"/>
                <a:ea typeface="Calibri"/>
              </a:rPr>
              <a:t>A Blockchain-Powered Alternative to Buying New</a:t>
            </a:r>
          </a:p>
          <a:p xmlns:a="http://schemas.openxmlformats.org/drawingml/2006/main">
            <a:r>
              <a:rPr lang="en-US" sz="1600">
                <a:solidFill>
                  <a:srgbClr val="8899BB"/>
                </a:solidFill>
                <a:latin typeface="Calibri"/>
                <a:ea typeface="Calibri"/>
              </a:rPr>
              <a:t>August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9F6F0"/>
        </a:solidFill>
      </p:bgPr>
    </p:bg>
    <p:spTree>
      <p:nvGrpSpPr>
        <p:cNvPr id="1" name=""/>
        <p:cNvGrpSpPr/>
        <p:nvPr/>
      </p:nvGrpSpPr>
      <p:grpSpPr/>
      <p:sp>
        <p:nvSpPr>
          <p:cNvPr id="100003" name="TextBox 1"/>
          <p:cNvSpPr/>
          <p:nvPr/>
        </p:nvSpPr>
        <p:spPr>
          <a:xfrm xmlns:a="http://schemas.openxmlformats.org/drawingml/2006/main">
            <a:off x="540000" y="457200"/>
            <a:ext cx="111132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800" b="1">
                <a:solidFill>
                  <a:srgbClr val="1E2761"/>
                </a:solidFill>
                <a:latin typeface="Georgia"/>
                <a:ea typeface="Georgia"/>
              </a:rPr>
              <a:t>Why Parents Need ToyTrade</a:t>
            </a:r>
          </a:p>
        </p:txBody>
      </p:sp>
      <p:sp>
        <p:nvSpPr>
          <p:cNvPr id="100004" name="TextBox 2"/>
          <p:cNvSpPr/>
          <p:nvPr/>
        </p:nvSpPr>
        <p:spPr>
          <a:xfrm xmlns:a="http://schemas.openxmlformats.org/drawingml/2006/main">
            <a:off x="540000" y="1260000"/>
            <a:ext cx="5220000" cy="46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0E0E0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5" name="TextBox 3"/>
          <p:cNvSpPr/>
          <p:nvPr/>
        </p:nvSpPr>
        <p:spPr>
          <a:xfrm xmlns:a="http://schemas.openxmlformats.org/drawingml/2006/main">
            <a:off x="900000" y="1620000"/>
            <a:ext cx="4500000" cy="7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400" b="1">
                <a:solidFill>
                  <a:srgbClr val="B85042"/>
                </a:solidFill>
                <a:latin typeface="Georgia"/>
                <a:ea typeface="Georgia"/>
              </a:rPr>
              <a:t>The Problem</a:t>
            </a:r>
          </a:p>
        </p:txBody>
      </p:sp>
      <p:sp>
        <p:nvSpPr>
          <p:cNvPr id="100006" name="TextBox 4"/>
          <p:cNvSpPr/>
          <p:nvPr/>
        </p:nvSpPr>
        <p:spPr>
          <a:xfrm xmlns:a="http://schemas.openxmlformats.org/drawingml/2006/main">
            <a:off x="900000" y="2340000"/>
            <a:ext cx="4500000" cy="28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• Kids outgrow toys quickly, creating constant expenses for parents.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• High cost of new premium sets (e.g. LEGO, educational toys).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• Trading physical items locally lacks transactional trust.</a:t>
            </a:r>
          </a:p>
        </p:txBody>
      </p:sp>
      <p:sp>
        <p:nvSpPr>
          <p:cNvPr id="100007" name="TextBox 5"/>
          <p:cNvSpPr/>
          <p:nvPr/>
        </p:nvSpPr>
        <p:spPr>
          <a:xfrm xmlns:a="http://schemas.openxmlformats.org/drawingml/2006/main">
            <a:off x="6300000" y="1260000"/>
            <a:ext cx="5220000" cy="46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E2761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8" name="TextBox 6"/>
          <p:cNvSpPr/>
          <p:nvPr/>
        </p:nvSpPr>
        <p:spPr>
          <a:xfrm xmlns:a="http://schemas.openxmlformats.org/drawingml/2006/main">
            <a:off x="6660000" y="1620000"/>
            <a:ext cx="4500000" cy="7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400" b="1">
                <a:solidFill>
                  <a:srgbClr val="CADCFC"/>
                </a:solidFill>
                <a:latin typeface="Georgia"/>
                <a:ea typeface="Georgia"/>
              </a:rPr>
              <a:t>The CKB Solution</a:t>
            </a:r>
          </a:p>
        </p:txBody>
      </p:sp>
      <p:sp>
        <p:nvSpPr>
          <p:cNvPr id="100009" name="TextBox 7"/>
          <p:cNvSpPr/>
          <p:nvPr/>
        </p:nvSpPr>
        <p:spPr>
          <a:xfrm xmlns:a="http://schemas.openxmlformats.org/drawingml/2006/main">
            <a:off x="6660000" y="2340000"/>
            <a:ext cx="4500000" cy="28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• Trust Escrow Script locks CKB payments atomically until delivery.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• Toy Passport DOB stores trading history and owner reviews directly on-chain.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• Seamless JoyID authentication allows parents to login with a fingerprint.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9F6F0"/>
        </a:solidFill>
      </p:bgPr>
    </p:bg>
    <p:spTree>
      <p:nvGrpSpPr>
        <p:cNvPr id="1" name=""/>
        <p:cNvGrpSpPr/>
        <p:nvPr/>
      </p:nvGrpSpPr>
      <p:grpSpPr/>
      <p:sp>
        <p:nvSpPr>
          <p:cNvPr id="100010" name="TextBox 1"/>
          <p:cNvSpPr/>
          <p:nvPr/>
        </p:nvSpPr>
        <p:spPr>
          <a:xfrm xmlns:a="http://schemas.openxmlformats.org/drawingml/2006/main">
            <a:off x="540000" y="457200"/>
            <a:ext cx="111132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800" b="1">
                <a:solidFill>
                  <a:srgbClr val="1E2761"/>
                </a:solidFill>
                <a:latin typeface="Georgia"/>
                <a:ea typeface="Georgia"/>
              </a:rPr>
              <a:t>Three-Price Market Integrity</a:t>
            </a:r>
          </a:p>
        </p:txBody>
      </p:sp>
      <p:sp>
        <p:nvSpPr>
          <p:cNvPr id="100011" name="TextBox 2"/>
          <p:cNvSpPr/>
          <p:nvPr/>
        </p:nvSpPr>
        <p:spPr>
          <a:xfrm xmlns:a="http://schemas.openxmlformats.org/drawingml/2006/main">
            <a:off x="540000" y="1620000"/>
            <a:ext cx="3420000" cy="36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0E0E0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2" name="TextBox 3"/>
          <p:cNvSpPr/>
          <p:nvPr/>
        </p:nvSpPr>
        <p:spPr>
          <a:xfrm xmlns:a="http://schemas.openxmlformats.org/drawingml/2006/main">
            <a:off x="900000" y="1980000"/>
            <a:ext cx="270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200" b="1">
                <a:solidFill>
                  <a:srgbClr val="1E2761"/>
                </a:solidFill>
                <a:latin typeface="Georgia"/>
                <a:ea typeface="Georgia"/>
              </a:rPr>
              <a:t>① Seller's Price</a:t>
            </a:r>
          </a:p>
        </p:txBody>
      </p:sp>
      <p:sp>
        <p:nvSpPr>
          <p:cNvPr id="100013" name="TextBox 4"/>
          <p:cNvSpPr/>
          <p:nvPr/>
        </p:nvSpPr>
        <p:spPr>
          <a:xfrm xmlns:a="http://schemas.openxmlformats.org/drawingml/2006/main">
            <a:off x="900000" y="2700000"/>
            <a:ext cx="2700000" cy="19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Set directly by parents in their local fiat currency (GBP / VND).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Keeps pricing natural and simple for everyday users.</a:t>
            </a:r>
          </a:p>
        </p:txBody>
      </p:sp>
      <p:sp>
        <p:nvSpPr>
          <p:cNvPr id="100014" name="TextBox 5"/>
          <p:cNvSpPr/>
          <p:nvPr/>
        </p:nvSpPr>
        <p:spPr>
          <a:xfrm xmlns:a="http://schemas.openxmlformats.org/drawingml/2006/main">
            <a:off x="4320000" y="1620000"/>
            <a:ext cx="3420000" cy="36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0E0E0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5" name="TextBox 6"/>
          <p:cNvSpPr/>
          <p:nvPr/>
        </p:nvSpPr>
        <p:spPr>
          <a:xfrm xmlns:a="http://schemas.openxmlformats.org/drawingml/2006/main">
            <a:off x="4680000" y="1980000"/>
            <a:ext cx="270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200" b="1">
                <a:solidFill>
                  <a:srgbClr val="B85042"/>
                </a:solidFill>
                <a:latin typeface="Georgia"/>
                <a:ea typeface="Georgia"/>
              </a:rPr>
              <a:t>② Market Reference</a:t>
            </a:r>
          </a:p>
        </p:txBody>
      </p:sp>
      <p:sp>
        <p:nvSpPr>
          <p:cNvPr id="100016" name="TextBox 7"/>
          <p:cNvSpPr/>
          <p:nvPr/>
        </p:nvSpPr>
        <p:spPr>
          <a:xfrm xmlns:a="http://schemas.openxmlformats.org/drawingml/2006/main">
            <a:off x="4680000" y="2700000"/>
            <a:ext cx="2700000" cy="19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Extracted automatically via Google Lens (SerpApi) visual match.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Protects parents against overpriced listings.</a:t>
            </a:r>
          </a:p>
        </p:txBody>
      </p:sp>
      <p:sp>
        <p:nvSpPr>
          <p:cNvPr id="100017" name="TextBox 8"/>
          <p:cNvSpPr/>
          <p:nvPr/>
        </p:nvSpPr>
        <p:spPr>
          <a:xfrm xmlns:a="http://schemas.openxmlformats.org/drawingml/2006/main">
            <a:off x="8100000" y="1620000"/>
            <a:ext cx="3420000" cy="36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E2761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8" name="TextBox 9"/>
          <p:cNvSpPr/>
          <p:nvPr/>
        </p:nvSpPr>
        <p:spPr>
          <a:xfrm xmlns:a="http://schemas.openxmlformats.org/drawingml/2006/main">
            <a:off x="8460000" y="1980000"/>
            <a:ext cx="270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200" b="1">
                <a:solidFill>
                  <a:srgbClr val="CADCFC"/>
                </a:solidFill>
                <a:latin typeface="Georgia"/>
                <a:ea typeface="Georgia"/>
              </a:rPr>
              <a:t>③ CKB Equivalent</a:t>
            </a:r>
          </a:p>
        </p:txBody>
      </p:sp>
      <p:sp>
        <p:nvSpPr>
          <p:cNvPr id="100019" name="TextBox 10"/>
          <p:cNvSpPr/>
          <p:nvPr/>
        </p:nvSpPr>
        <p:spPr>
          <a:xfrm xmlns:a="http://schemas.openxmlformats.org/drawingml/2006/main">
            <a:off x="8460000" y="2700000"/>
            <a:ext cx="2700000" cy="19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Calculated in real-time from CoinGecko feeds.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Locked at trade initiation for settlement in the escrow contract.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9F6F0"/>
        </a:solidFill>
      </p:bgPr>
    </p:bg>
    <p:spTree>
      <p:nvGrpSpPr>
        <p:cNvPr id="1" name=""/>
        <p:cNvGrpSpPr/>
        <p:nvPr/>
      </p:nvGrpSpPr>
      <p:grpSpPr/>
      <p:sp>
        <p:nvSpPr>
          <p:cNvPr id="100020" name="TextBox 1"/>
          <p:cNvSpPr/>
          <p:nvPr/>
        </p:nvSpPr>
        <p:spPr>
          <a:xfrm xmlns:a="http://schemas.openxmlformats.org/drawingml/2006/main">
            <a:off x="540000" y="457200"/>
            <a:ext cx="111132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800" b="1">
                <a:solidFill>
                  <a:srgbClr val="1E2761"/>
                </a:solidFill>
                <a:latin typeface="Georgia"/>
                <a:ea typeface="Georgia"/>
              </a:rPr>
              <a:t>How the Trade Settles on CKB</a:t>
            </a:r>
          </a:p>
        </p:txBody>
      </p:sp>
      <p:sp>
        <p:nvSpPr>
          <p:cNvPr id="100021" name="TextBox 2"/>
          <p:cNvSpPr/>
          <p:nvPr/>
        </p:nvSpPr>
        <p:spPr>
          <a:xfrm xmlns:a="http://schemas.openxmlformats.org/drawingml/2006/main">
            <a:off x="540000" y="1620000"/>
            <a:ext cx="1440000" cy="5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FFFFFF"/>
                </a:solidFill>
                <a:latin typeface="Georgia"/>
                <a:ea typeface="Georgia"/>
              </a:rPr>
              <a:t>1. Escrow Lock</a:t>
            </a:r>
          </a:p>
        </p:txBody>
      </p:sp>
      <p:sp>
        <p:nvSpPr>
          <p:cNvPr id="100022" name="TextBox 3"/>
          <p:cNvSpPr/>
          <p:nvPr/>
        </p:nvSpPr>
        <p:spPr>
          <a:xfrm xmlns:a="http://schemas.openxmlformats.org/drawingml/2006/main">
            <a:off x="2160000" y="1620000"/>
            <a:ext cx="900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Buyer connects via JoyID and locks CKB equivalent into the custom Escrow Lock Cell.</a:t>
            </a:r>
          </a:p>
        </p:txBody>
      </p:sp>
      <p:sp>
        <p:nvSpPr>
          <p:cNvPr id="100023" name="TextBox 4"/>
          <p:cNvSpPr/>
          <p:nvPr/>
        </p:nvSpPr>
        <p:spPr>
          <a:xfrm xmlns:a="http://schemas.openxmlformats.org/drawingml/2006/main">
            <a:off x="540000" y="2700000"/>
            <a:ext cx="1440000" cy="5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FFFFFF"/>
                </a:solidFill>
                <a:latin typeface="Georgia"/>
                <a:ea typeface="Georgia"/>
              </a:rPr>
              <a:t>2. Handover</a:t>
            </a:r>
          </a:p>
        </p:txBody>
      </p:sp>
      <p:sp>
        <p:nvSpPr>
          <p:cNvPr id="100024" name="TextBox 5"/>
          <p:cNvSpPr/>
          <p:nvPr/>
        </p:nvSpPr>
        <p:spPr>
          <a:xfrm xmlns:a="http://schemas.openxmlformats.org/drawingml/2006/main">
            <a:off x="2160000" y="2700000"/>
            <a:ext cx="900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Seller delivers the toy (via local meetup or tracked shipping service).</a:t>
            </a:r>
          </a:p>
        </p:txBody>
      </p:sp>
      <p:sp>
        <p:nvSpPr>
          <p:cNvPr id="100025" name="TextBox 6"/>
          <p:cNvSpPr/>
          <p:nvPr/>
        </p:nvSpPr>
        <p:spPr>
          <a:xfrm xmlns:a="http://schemas.openxmlformats.org/drawingml/2006/main">
            <a:off x="540000" y="3780000"/>
            <a:ext cx="1440000" cy="5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FFFFFF"/>
                </a:solidFill>
                <a:latin typeface="Georgia"/>
                <a:ea typeface="Georgia"/>
              </a:rPr>
              <a:t>3. Settlement</a:t>
            </a:r>
          </a:p>
        </p:txBody>
      </p:sp>
      <p:sp>
        <p:nvSpPr>
          <p:cNvPr id="100026" name="TextBox 7"/>
          <p:cNvSpPr/>
          <p:nvPr/>
        </p:nvSpPr>
        <p:spPr>
          <a:xfrm xmlns:a="http://schemas.openxmlformats.org/drawingml/2006/main">
            <a:off x="2160000" y="3780000"/>
            <a:ext cx="900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Dual confirmation triggers release of CKB to the seller and transfers the Toy Passport DOB to the buyer.</a:t>
            </a:r>
          </a:p>
        </p:txBody>
      </p:sp>
      <p:sp>
        <p:nvSpPr>
          <p:cNvPr id="100027" name="TextBox 8"/>
          <p:cNvSpPr/>
          <p:nvPr/>
        </p:nvSpPr>
        <p:spPr>
          <a:xfrm xmlns:a="http://schemas.openxmlformats.org/drawingml/2006/main">
            <a:off x="540000" y="4860000"/>
            <a:ext cx="1440000" cy="5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5042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FFFFFF"/>
                </a:solidFill>
                <a:latin typeface="Georgia"/>
                <a:ea typeface="Georgia"/>
              </a:rPr>
              <a:t>Safeguard</a:t>
            </a:r>
          </a:p>
        </p:txBody>
      </p:sp>
      <p:sp>
        <p:nvSpPr>
          <p:cNvPr id="100028" name="TextBox 9"/>
          <p:cNvSpPr/>
          <p:nvPr/>
        </p:nvSpPr>
        <p:spPr>
          <a:xfrm xmlns:a="http://schemas.openxmlformats.org/drawingml/2006/main">
            <a:off x="2160000" y="4860000"/>
            <a:ext cx="900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Timeout refund allows the buyer to reclaim locked CKB if the trade fails after 7 days.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29" name="TextBox 1"/>
          <p:cNvSpPr/>
          <p:nvPr/>
        </p:nvSpPr>
        <p:spPr>
          <a:xfrm xmlns:a="http://schemas.openxmlformats.org/drawingml/2006/main">
            <a:off x="540000" y="457200"/>
            <a:ext cx="111132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800" b="1">
                <a:solidFill>
                  <a:srgbClr val="FFFFFF"/>
                </a:solidFill>
                <a:latin typeface="Georgia"/>
                <a:ea typeface="Georgia"/>
              </a:rPr>
              <a:t>ToyTrade Evolutionary Roadmap</a:t>
            </a:r>
          </a:p>
        </p:txBody>
      </p:sp>
      <p:sp>
        <p:nvSpPr>
          <p:cNvPr id="100030" name="TextBox 2"/>
          <p:cNvSpPr/>
          <p:nvPr/>
        </p:nvSpPr>
        <p:spPr>
          <a:xfrm xmlns:a="http://schemas.openxmlformats.org/drawingml/2006/main">
            <a:off x="540000" y="1620000"/>
            <a:ext cx="3420000" cy="36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1" name="TextBox 3"/>
          <p:cNvSpPr/>
          <p:nvPr/>
        </p:nvSpPr>
        <p:spPr>
          <a:xfrm xmlns:a="http://schemas.openxmlformats.org/drawingml/2006/main">
            <a:off x="900000" y="1980000"/>
            <a:ext cx="270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200" b="1">
                <a:solidFill>
                  <a:srgbClr val="00FF87"/>
                </a:solidFill>
                <a:latin typeface="Georgia"/>
                <a:ea typeface="Georgia"/>
              </a:rPr>
              <a:t>v1: CKB Escrow</a:t>
            </a:r>
          </a:p>
        </p:txBody>
      </p:sp>
      <p:sp>
        <p:nvSpPr>
          <p:cNvPr id="100032" name="TextBox 4"/>
          <p:cNvSpPr/>
          <p:nvPr/>
        </p:nvSpPr>
        <p:spPr>
          <a:xfrm xmlns:a="http://schemas.openxmlformats.org/drawingml/2006/main">
            <a:off x="900000" y="2700000"/>
            <a:ext cx="2700000" cy="19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CADCFC"/>
                </a:solidFill>
                <a:latin typeface="Calibri"/>
                <a:ea typeface="Calibri"/>
              </a:rPr>
              <a:t>Core platform featuring listings, custom escrow lock scripts, Toy Passport DOBs, user rating systems, and 3-price dynamic displays.</a:t>
            </a:r>
          </a:p>
        </p:txBody>
      </p:sp>
      <p:sp>
        <p:nvSpPr>
          <p:cNvPr id="100033" name="TextBox 5"/>
          <p:cNvSpPr/>
          <p:nvPr/>
        </p:nvSpPr>
        <p:spPr>
          <a:xfrm xmlns:a="http://schemas.openxmlformats.org/drawingml/2006/main">
            <a:off x="4320000" y="1620000"/>
            <a:ext cx="3420000" cy="36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4" name="TextBox 6"/>
          <p:cNvSpPr/>
          <p:nvPr/>
        </p:nvSpPr>
        <p:spPr>
          <a:xfrm xmlns:a="http://schemas.openxmlformats.org/drawingml/2006/main">
            <a:off x="4680000" y="1980000"/>
            <a:ext cx="270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200" b="1">
                <a:solidFill>
                  <a:srgbClr val="CADCFC"/>
                </a:solidFill>
                <a:latin typeface="Georgia"/>
                <a:ea typeface="Georgia"/>
              </a:rPr>
              <a:t>v2: Fiber Network</a:t>
            </a:r>
          </a:p>
        </p:txBody>
      </p:sp>
      <p:sp>
        <p:nvSpPr>
          <p:cNvPr id="100035" name="TextBox 7"/>
          <p:cNvSpPr/>
          <p:nvPr/>
        </p:nvSpPr>
        <p:spPr>
          <a:xfrm xmlns:a="http://schemas.openxmlformats.org/drawingml/2006/main">
            <a:off x="4680000" y="2700000"/>
            <a:ext cx="2700000" cy="19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8899BB"/>
                </a:solidFill>
                <a:latin typeface="Calibri"/>
                <a:ea typeface="Calibri"/>
              </a:rPr>
              <a:t>Integrating Fiber channels to enable instant payments, cheaper transactions, and high throughput trading pipelines.</a:t>
            </a:r>
          </a:p>
        </p:txBody>
      </p:sp>
      <p:sp>
        <p:nvSpPr>
          <p:cNvPr id="100036" name="TextBox 8"/>
          <p:cNvSpPr/>
          <p:nvPr/>
        </p:nvSpPr>
        <p:spPr>
          <a:xfrm xmlns:a="http://schemas.openxmlformats.org/drawingml/2006/main">
            <a:off x="8100000" y="1620000"/>
            <a:ext cx="3420000" cy="36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7" name="TextBox 9"/>
          <p:cNvSpPr/>
          <p:nvPr/>
        </p:nvSpPr>
        <p:spPr>
          <a:xfrm xmlns:a="http://schemas.openxmlformats.org/drawingml/2006/main">
            <a:off x="8460000" y="1980000"/>
            <a:ext cx="270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200" b="1">
                <a:solidFill>
                  <a:srgbClr val="CADCFC"/>
                </a:solidFill>
                <a:latin typeface="Georgia"/>
                <a:ea typeface="Georgia"/>
              </a:rPr>
              <a:t>v3: Bitcoin Swaps</a:t>
            </a:r>
          </a:p>
        </p:txBody>
      </p:sp>
      <p:sp>
        <p:nvSpPr>
          <p:cNvPr id="100038" name="TextBox 10"/>
          <p:cNvSpPr/>
          <p:nvPr/>
        </p:nvSpPr>
        <p:spPr>
          <a:xfrm xmlns:a="http://schemas.openxmlformats.org/drawingml/2006/main">
            <a:off x="8460000" y="2700000"/>
            <a:ext cx="2700000" cy="19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8899BB"/>
                </a:solidFill>
                <a:latin typeface="Calibri"/>
                <a:ea typeface="Calibri"/>
              </a:rPr>
              <a:t>Leveraging cross-chain hubs to support native Bitcoin settlements as alternative trade settlement options.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2026-08-09T05:18:21Z</dcterms:created>
  <cp:lastModifiedBy>OfficeCLI</cp:lastModifiedBy>
  <dcterms:modified xsi:type="dcterms:W3CDTF">2026-08-09T05:18:21Z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2026-08-09T05:19:00Z</vt:lpwstr>
  </op:property>
</op:Properties>
</file>